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FAE"/>
    <a:srgbClr val="AEAEAE"/>
    <a:srgbClr val="FFE2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7386" autoAdjust="0"/>
  </p:normalViewPr>
  <p:slideViewPr>
    <p:cSldViewPr snapToGrid="0">
      <p:cViewPr>
        <p:scale>
          <a:sx n="150" d="100"/>
          <a:sy n="150" d="100"/>
        </p:scale>
        <p:origin x="84" y="2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7D61CA-6103-40F0-88D3-0AA9511184C2}" type="datetimeFigureOut">
              <a:rPr lang="hu-HU" smtClean="0"/>
              <a:t>2025. 07. 24.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AD0991-A93D-4F13-87A0-00FCD2AF18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28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AD0991-A93D-4F13-87A0-00FCD2AF18F6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6221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AD0991-A93D-4F13-87A0-00FCD2AF18F6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70374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A013-9134-9C70-8985-CB64BA4FC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B90F21-199B-D219-04D8-A1F9101CF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DC6B4-A2D1-565F-56B2-0B3A73BB3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059A2-DE25-3D57-566D-58AC642BCC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AD0991-A93D-4F13-87A0-00FCD2AF18F6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892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F8581-5D46-B8CF-BFE8-41540DA8C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27ED55-4964-95D3-6049-F9A7D046A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6C3994-3013-898E-A519-6C918BDE0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C9204-BE58-14A0-4C22-FDAFFEFACC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AD0991-A93D-4F13-87A0-00FCD2AF18F6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0500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A8C37-FF3F-49B7-1726-6BFA38C6B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9E4538-4019-3EF5-38A7-6AF9D646D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E653BB-B63B-E425-1AB5-D3C387151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DB6DF-084A-E124-C824-21D66EC1C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AD0991-A93D-4F13-87A0-00FCD2AF18F6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692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C5F7D-0674-79D8-EF2B-8F2BC48DE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12909B-E05E-5C5C-7405-CF1EBCE458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4934FF-D3B3-F939-58E6-66A472EB9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60B11-BAB6-FF60-EA4D-8B4F029BA8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AD0991-A93D-4F13-87A0-00FCD2AF18F6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4551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6689C-8721-7493-0AE8-972D65DC8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D0DCAE-5C43-A545-84CA-33480D78E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E5B97-F4F3-1D06-7F4B-6F45ED81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3332-C996-4D45-A824-363289479C5F}" type="datetimeFigureOut">
              <a:rPr lang="hu-HU" smtClean="0"/>
              <a:t>2025. 07. 24.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9630A-602F-0DA3-56BD-5EC9551FA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F9776-2AD0-4AC8-89F5-9ACD148E8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235C-AA86-477F-9736-A774618BB63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56831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4482E-8EA3-44DD-8226-60B187515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45AEA-4D5B-2CC5-5F11-008812B5B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2DDBF-E114-2E38-1EA4-12FA0EAA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3332-C996-4D45-A824-363289479C5F}" type="datetimeFigureOut">
              <a:rPr lang="hu-HU" smtClean="0"/>
              <a:t>2025. 07. 24.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007D5-3712-9A87-7A00-39D28437F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1FCE8-41BC-5FA9-67EB-450E2D540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235C-AA86-477F-9736-A774618BB63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44503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AE9A0-9914-3AF1-DDDE-18396A4BB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118AF-C02C-CF11-0415-71C3895D6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4EB4C-9A06-6725-1EC0-8E982F20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3332-C996-4D45-A824-363289479C5F}" type="datetimeFigureOut">
              <a:rPr lang="hu-HU" smtClean="0"/>
              <a:t>2025. 07. 24.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C7FA3-B7E3-A0B1-4F26-D3C6A66ED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5F170-0DCC-576C-637B-359E4F9A4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235C-AA86-477F-9736-A774618BB63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40199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B5473-EE4C-BDF5-19B6-DBCD4F6CD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ADD8A-9C7D-FB9C-17AA-53957E60B7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BC05A-D709-B8A8-217B-D81ABFFCA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3BC0E-F35F-28A1-9EBD-7AEED12CF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3332-C996-4D45-A824-363289479C5F}" type="datetimeFigureOut">
              <a:rPr lang="hu-HU" smtClean="0"/>
              <a:t>2025. 07. 24.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5CB76D-07AB-2231-8890-0E233F50D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A8A45-14DD-2EA7-349E-BB9884FE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235C-AA86-477F-9736-A774618BB63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36366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6F0A1-8772-406B-E0E1-483948688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ABBBF-8160-9FDD-260D-CA697921C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9A2BB4-65F2-12BE-D978-9F9DCD565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538C25-1F7E-0906-D9C0-6588D5F7B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726C56-E524-43C2-5E2B-34C423590A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9BB702-3880-152F-97F6-4B7717689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3332-C996-4D45-A824-363289479C5F}" type="datetimeFigureOut">
              <a:rPr lang="hu-HU" smtClean="0"/>
              <a:t>2025. 07. 24.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0847A1-58A1-95B2-15FC-AD9BF0D76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9B9F75-41D4-410C-A69A-EBC3EE5B6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235C-AA86-477F-9736-A774618BB63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23134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A9F11-593D-6904-5475-DDA1538DC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B086D8-0C6B-E979-7993-32489233A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3332-C996-4D45-A824-363289479C5F}" type="datetimeFigureOut">
              <a:rPr lang="hu-HU" smtClean="0"/>
              <a:t>2025. 07. 24.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81AD7-DF47-663F-8851-FD2AD097C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3B221F-FAFF-4BE2-1819-87DC647AD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235C-AA86-477F-9736-A774618BB63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361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7F84A1-B233-4CCA-29E6-1DF98B314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3332-C996-4D45-A824-363289479C5F}" type="datetimeFigureOut">
              <a:rPr lang="hu-HU" smtClean="0"/>
              <a:t>2025. 07. 24.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9A184F-4CF5-D75D-CD43-3CA9CBE23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7626C-AD20-0D62-6862-895D5C058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235C-AA86-477F-9736-A774618BB63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35641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56628-79A3-EF9E-DAD9-79973C8A8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BFE65-E0F0-815A-EB9B-DFB8BE654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9B5D4-8FCF-238B-812B-A1A8A33EA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05442-D0DC-5137-89AE-FFCD56D36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3332-C996-4D45-A824-363289479C5F}" type="datetimeFigureOut">
              <a:rPr lang="hu-HU" smtClean="0"/>
              <a:t>2025. 07. 24.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8A1AC-1061-A86B-B396-097B72330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3A674-BFF5-EAB0-B216-144ADF9B4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235C-AA86-477F-9736-A774618BB63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9990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6CC68-C8E5-5A39-46E5-AF7689313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E605B5-B414-D5A9-D99A-90CD86E1B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48F218-B138-323D-B178-62CFF5CF4B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BBF96-4195-E1AB-6D9C-B4BCBAAF5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3332-C996-4D45-A824-363289479C5F}" type="datetimeFigureOut">
              <a:rPr lang="hu-HU" smtClean="0"/>
              <a:t>2025. 07. 24.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32DC2-9574-BD20-DA1F-CAD50C0F6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40C67-2910-99F7-2BF7-E7383B66C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235C-AA86-477F-9736-A774618BB63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50072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CE32-1BD8-41CB-91AA-2B3A9E705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D0C23F-3DB4-F824-A621-8D8FC27DD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51BA2-CAEE-D131-F8C5-3B0711EF4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3332-C996-4D45-A824-363289479C5F}" type="datetimeFigureOut">
              <a:rPr lang="hu-HU" smtClean="0"/>
              <a:t>2025. 07. 24.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AFAE7-6BCB-2C0D-EAE4-30C20FD9D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7E651-BF35-673F-F190-3B7BCC70F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235C-AA86-477F-9736-A774618BB63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7555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601A87-55A4-5E86-3586-4D16000361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AB7203-E499-AF93-2A95-1BDBEE9ED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F2035-DE52-FE2E-9068-97FAE834F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3332-C996-4D45-A824-363289479C5F}" type="datetimeFigureOut">
              <a:rPr lang="hu-HU" smtClean="0"/>
              <a:t>2025. 07. 24.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F7845-A3AF-A0C9-2018-9BA5AA474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670F4-A361-376B-0A2A-5C1C76EC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235C-AA86-477F-9736-A774618BB63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56163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370804-D2C4-1F96-C11D-94475F4D2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455E4-8D8A-6CF6-2E72-FD29712E0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61F13-E9E1-7E68-E47C-8D64FBAEC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403332-C996-4D45-A824-363289479C5F}" type="datetimeFigureOut">
              <a:rPr lang="hu-HU" smtClean="0"/>
              <a:t>2025. 07. 24.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842B5-4C30-FA5A-8681-DC8F27E96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47CB5-996D-CEE5-1127-F8AA27B03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3235C-AA86-477F-9736-A774618BB63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4101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4F128-3615-0B55-2D5A-A8DB658C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Content Placeholder 4" descr="A group of question marks&#10;&#10;AI-generated content may be incorrect.">
            <a:extLst>
              <a:ext uri="{FF2B5EF4-FFF2-40B4-BE49-F238E27FC236}">
                <a16:creationId xmlns:a16="http://schemas.microsoft.com/office/drawing/2014/main" id="{868E0CF2-9045-6CBE-A269-444A793753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3750" y="-31750"/>
            <a:ext cx="13779500" cy="6889750"/>
          </a:xfrm>
        </p:spPr>
      </p:pic>
    </p:spTree>
    <p:extLst>
      <p:ext uri="{BB962C8B-B14F-4D97-AF65-F5344CB8AC3E}">
        <p14:creationId xmlns:p14="http://schemas.microsoft.com/office/powerpoint/2010/main" val="32254686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74441-E897-6A91-A046-D839F8CA09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CD812C-3D9B-D90C-7B9B-9434650329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9" name="Picture 8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53EC131B-5F9F-682E-C3F8-D560A9678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1" b="6563"/>
          <a:stretch>
            <a:fillRect/>
          </a:stretch>
        </p:blipFill>
        <p:spPr>
          <a:xfrm>
            <a:off x="-558641" y="0"/>
            <a:ext cx="133092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3828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A6AFAE"/>
            </a:gs>
            <a:gs pos="0">
              <a:srgbClr val="FFE2C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aper with a feather and text&#10;&#10;AI-generated content may be incorrect.">
            <a:extLst>
              <a:ext uri="{FF2B5EF4-FFF2-40B4-BE49-F238E27FC236}">
                <a16:creationId xmlns:a16="http://schemas.microsoft.com/office/drawing/2014/main" id="{60B893DC-CCAD-EDA6-1BCB-4075638799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89" y="105775"/>
            <a:ext cx="1299717" cy="1312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2D6C31-91CB-31D1-D491-788B11E5D752}"/>
              </a:ext>
            </a:extLst>
          </p:cNvPr>
          <p:cNvSpPr txBox="1"/>
          <p:nvPr/>
        </p:nvSpPr>
        <p:spPr>
          <a:xfrm>
            <a:off x="4536608" y="0"/>
            <a:ext cx="31187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9600" spc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C</a:t>
            </a:r>
            <a:r>
              <a:rPr lang="hu-HU" sz="4000" spc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RUD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EDA6C3-F501-1B66-A519-BEBC06D827CD}"/>
              </a:ext>
            </a:extLst>
          </p:cNvPr>
          <p:cNvSpPr txBox="1"/>
          <p:nvPr/>
        </p:nvSpPr>
        <p:spPr>
          <a:xfrm>
            <a:off x="601906" y="1627426"/>
            <a:ext cx="477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Create a New Question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156D083F-C287-86DC-1649-5FEEFE715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17550" y="2228672"/>
            <a:ext cx="741411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Adds a new question to the database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Uses the 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POST</a:t>
            </a:r>
            <a:r>
              <a:rPr kumimoji="0" lang="hu-HU" altLang="hu-H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method on the 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/Question </a:t>
            </a:r>
            <a:r>
              <a:rPr kumimoji="0" lang="hu-HU" altLang="hu-H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endpoint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Requires: 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title, description, and submission time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Returns the new question’s ID for reference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Each question is uniquely identified and stored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F671130E-47B4-3275-FAE8-DDD84B8B9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61001" y="5499994"/>
            <a:ext cx="7971940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Adds a new answer to a specific question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Uses the 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POST</a:t>
            </a:r>
            <a:r>
              <a:rPr kumimoji="0" lang="hu-HU" altLang="hu-H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method on the 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/Answer </a:t>
            </a:r>
            <a:r>
              <a:rPr kumimoji="0" lang="hu-HU" altLang="hu-H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endpoint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Requires: 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message, related question ID, and submission time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Returns the new answer’s ID for tracking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Allows users to contribute answers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657150-E5E5-65AF-ECC3-0E0D7399C9FB}"/>
              </a:ext>
            </a:extLst>
          </p:cNvPr>
          <p:cNvSpPr txBox="1"/>
          <p:nvPr/>
        </p:nvSpPr>
        <p:spPr>
          <a:xfrm>
            <a:off x="1768388" y="4976774"/>
            <a:ext cx="37131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Create an Answer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513E6D6-4501-5BA9-47C5-0AE1E9011EAD}"/>
              </a:ext>
            </a:extLst>
          </p:cNvPr>
          <p:cNvGrpSpPr/>
          <p:nvPr/>
        </p:nvGrpSpPr>
        <p:grpSpPr>
          <a:xfrm>
            <a:off x="4362469" y="1513223"/>
            <a:ext cx="8218972" cy="5436217"/>
            <a:chOff x="4362469" y="1513223"/>
            <a:chExt cx="8218972" cy="5436217"/>
          </a:xfrm>
        </p:grpSpPr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FA6B9B84-C456-6B42-8C9A-106DF02E7566}"/>
                </a:ext>
              </a:extLst>
            </p:cNvPr>
            <p:cNvSpPr/>
            <p:nvPr/>
          </p:nvSpPr>
          <p:spPr>
            <a:xfrm rot="17804190">
              <a:off x="7902754" y="1579025"/>
              <a:ext cx="1353571" cy="8003802"/>
            </a:xfrm>
            <a:prstGeom prst="triangle">
              <a:avLst>
                <a:gd name="adj" fmla="val 0"/>
              </a:avLst>
            </a:prstGeom>
            <a:solidFill>
              <a:srgbClr val="FFE2C8"/>
            </a:solidFill>
            <a:ln>
              <a:solidFill>
                <a:srgbClr val="FFE2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2" name="Isosceles Triangle 61">
              <a:extLst>
                <a:ext uri="{FF2B5EF4-FFF2-40B4-BE49-F238E27FC236}">
                  <a16:creationId xmlns:a16="http://schemas.microsoft.com/office/drawing/2014/main" id="{D8E6E078-1D51-98F3-58B4-F6710E4CFE29}"/>
                </a:ext>
              </a:extLst>
            </p:cNvPr>
            <p:cNvSpPr/>
            <p:nvPr/>
          </p:nvSpPr>
          <p:spPr>
            <a:xfrm rot="14874561">
              <a:off x="6480299" y="359990"/>
              <a:ext cx="1111064" cy="5346724"/>
            </a:xfrm>
            <a:prstGeom prst="triangle">
              <a:avLst>
                <a:gd name="adj" fmla="val 17659"/>
              </a:avLst>
            </a:prstGeom>
            <a:solidFill>
              <a:srgbClr val="FFE2C8"/>
            </a:solidFill>
            <a:ln>
              <a:solidFill>
                <a:srgbClr val="FFE2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AB86462-8E03-C911-8BD2-5D71C993DEB3}"/>
                </a:ext>
              </a:extLst>
            </p:cNvPr>
            <p:cNvSpPr/>
            <p:nvPr/>
          </p:nvSpPr>
          <p:spPr>
            <a:xfrm>
              <a:off x="9268036" y="1549400"/>
              <a:ext cx="2896341" cy="973152"/>
            </a:xfrm>
            <a:prstGeom prst="rect">
              <a:avLst/>
            </a:prstGeom>
            <a:solidFill>
              <a:srgbClr val="FFE2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50E1E3-D6BC-B4D2-D161-6904D0E60D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29150" y="1513223"/>
              <a:ext cx="4674870" cy="285875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Isosceles Triangle 60">
              <a:extLst>
                <a:ext uri="{FF2B5EF4-FFF2-40B4-BE49-F238E27FC236}">
                  <a16:creationId xmlns:a16="http://schemas.microsoft.com/office/drawing/2014/main" id="{F89083C2-8416-7B05-85A0-04AD15235976}"/>
                </a:ext>
              </a:extLst>
            </p:cNvPr>
            <p:cNvSpPr/>
            <p:nvPr/>
          </p:nvSpPr>
          <p:spPr>
            <a:xfrm rot="16200000">
              <a:off x="5776517" y="442515"/>
              <a:ext cx="5308599" cy="7522370"/>
            </a:xfrm>
            <a:prstGeom prst="triangle">
              <a:avLst>
                <a:gd name="adj" fmla="val 46734"/>
              </a:avLst>
            </a:prstGeom>
            <a:solidFill>
              <a:srgbClr val="FFE2C8"/>
            </a:solidFill>
            <a:ln>
              <a:solidFill>
                <a:srgbClr val="FFE2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" name="Rectangle 3">
              <a:extLst>
                <a:ext uri="{FF2B5EF4-FFF2-40B4-BE49-F238E27FC236}">
                  <a16:creationId xmlns:a16="http://schemas.microsoft.com/office/drawing/2014/main" id="{AED6CE36-D473-D514-E038-C416E04FE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424" y="3545611"/>
              <a:ext cx="6766389" cy="1600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hu-HU" altLang="hu-HU" sz="16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scadia Code" panose="020B0609020000020004" pitchFamily="49" charset="0"/>
                  <a:cs typeface="Cascadia Code" panose="020B0609020000020004" pitchFamily="49" charset="0"/>
                </a:rPr>
                <a:t>Adds a new user to the system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hu-HU" altLang="hu-HU" sz="16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scadia Code" panose="020B0609020000020004" pitchFamily="49" charset="0"/>
                  <a:cs typeface="Cascadia Code" panose="020B0609020000020004" pitchFamily="49" charset="0"/>
                </a:rPr>
                <a:t>Uses the </a:t>
              </a:r>
              <a:r>
                <a:rPr kumimoji="0" lang="hu-HU" altLang="hu-HU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scadia Code" panose="020B0609020000020004" pitchFamily="49" charset="0"/>
                  <a:cs typeface="Cascadia Code" panose="020B0609020000020004" pitchFamily="49" charset="0"/>
                </a:rPr>
                <a:t>POST</a:t>
              </a:r>
              <a:r>
                <a:rPr kumimoji="0" lang="hu-HU" altLang="hu-HU" sz="16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scadia Code" panose="020B0609020000020004" pitchFamily="49" charset="0"/>
                  <a:cs typeface="Cascadia Code" panose="020B0609020000020004" pitchFamily="49" charset="0"/>
                </a:rPr>
                <a:t> method on the </a:t>
              </a:r>
              <a:r>
                <a:rPr kumimoji="0" lang="hu-HU" altLang="hu-HU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scadia Code" panose="020B0609020000020004" pitchFamily="49" charset="0"/>
                  <a:cs typeface="Cascadia Code" panose="020B0609020000020004" pitchFamily="49" charset="0"/>
                </a:rPr>
                <a:t>/User </a:t>
              </a:r>
              <a:r>
                <a:rPr kumimoji="0" lang="hu-HU" altLang="hu-HU" sz="16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scadia Code" panose="020B0609020000020004" pitchFamily="49" charset="0"/>
                  <a:cs typeface="Cascadia Code" panose="020B0609020000020004" pitchFamily="49" charset="0"/>
                </a:rPr>
                <a:t>endpoint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hu-HU" altLang="hu-HU" sz="16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scadia Code" panose="020B0609020000020004" pitchFamily="49" charset="0"/>
                  <a:cs typeface="Cascadia Code" panose="020B0609020000020004" pitchFamily="49" charset="0"/>
                </a:rPr>
                <a:t>Requires: </a:t>
              </a:r>
              <a:r>
                <a:rPr kumimoji="0" lang="hu-HU" altLang="hu-HU" sz="1600" b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scadia Code" panose="020B0609020000020004" pitchFamily="49" charset="0"/>
                  <a:cs typeface="Cascadia Code" panose="020B0609020000020004" pitchFamily="49" charset="0"/>
                </a:rPr>
                <a:t>username, email, password, registration time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hu-HU" altLang="hu-HU" sz="16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scadia Code" panose="020B0609020000020004" pitchFamily="49" charset="0"/>
                  <a:cs typeface="Cascadia Code" panose="020B0609020000020004" pitchFamily="49" charset="0"/>
                </a:rPr>
                <a:t>Each user gets a unique ID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hu-HU" altLang="hu-HU" sz="16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scadia Code" panose="020B0609020000020004" pitchFamily="49" charset="0"/>
                  <a:cs typeface="Cascadia Code" panose="020B0609020000020004" pitchFamily="49" charset="0"/>
                </a:rPr>
                <a:t>Enables participation in asking and answering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11A05F4-11E4-032C-173D-433B74C42372}"/>
                </a:ext>
              </a:extLst>
            </p:cNvPr>
            <p:cNvSpPr txBox="1"/>
            <p:nvPr/>
          </p:nvSpPr>
          <p:spPr>
            <a:xfrm>
              <a:off x="7466500" y="3033352"/>
              <a:ext cx="367503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hu-HU" altLang="hu-HU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Mono SemiBold" panose="020B0609020000020004" pitchFamily="49" charset="0"/>
                  <a:cs typeface="Cascadia Mono SemiBold" panose="020B0609020000020004" pitchFamily="49" charset="0"/>
                </a:rPr>
                <a:t>Register a User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AEB9BA5-BC09-D61C-D0BF-E2880F289B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9150" y="4367213"/>
              <a:ext cx="5177790" cy="258222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80F1E7E2-9797-F165-F680-4DE18CA023C2}"/>
                </a:ext>
              </a:extLst>
            </p:cNvPr>
            <p:cNvSpPr/>
            <p:nvPr/>
          </p:nvSpPr>
          <p:spPr>
            <a:xfrm>
              <a:off x="4614368" y="434583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B28960C6-7676-03A8-C341-8B3EDD06C04A}"/>
              </a:ext>
            </a:extLst>
          </p:cNvPr>
          <p:cNvSpPr/>
          <p:nvPr/>
        </p:nvSpPr>
        <p:spPr>
          <a:xfrm>
            <a:off x="-8360" y="1490773"/>
            <a:ext cx="12200360" cy="1002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674899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7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6AFAE"/>
            </a:gs>
            <a:gs pos="100000">
              <a:srgbClr val="FFE2C8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6C3605-4E8C-D775-E2CE-C25681C3F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AD8DBFF-1E5B-47B0-5BD6-0DBD2BEDDD3F}"/>
              </a:ext>
            </a:extLst>
          </p:cNvPr>
          <p:cNvSpPr txBox="1"/>
          <p:nvPr/>
        </p:nvSpPr>
        <p:spPr>
          <a:xfrm>
            <a:off x="4532425" y="0"/>
            <a:ext cx="31187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spc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C</a:t>
            </a:r>
            <a:r>
              <a:rPr lang="hu-HU" sz="9600" spc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R</a:t>
            </a:r>
            <a:r>
              <a:rPr lang="hu-HU" sz="4000" spc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UD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5B3FC5-9197-B276-C491-EF96A704E38A}"/>
              </a:ext>
            </a:extLst>
          </p:cNvPr>
          <p:cNvSpPr/>
          <p:nvPr/>
        </p:nvSpPr>
        <p:spPr>
          <a:xfrm>
            <a:off x="-8360" y="1490773"/>
            <a:ext cx="12200360" cy="1002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9F8BF0-09CF-DE07-F9E3-08207816B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5701" y="2564781"/>
            <a:ext cx="9792232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Retrieves a list of all questions from the database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Uses the </a:t>
            </a: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GET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method on the </a:t>
            </a: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/Question 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endpoint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Returns the questions sorted by most recent first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Useful for displaying an overview of all submitted questions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BE85DB-0457-A421-CF34-BE358D2F5861}"/>
              </a:ext>
            </a:extLst>
          </p:cNvPr>
          <p:cNvSpPr txBox="1"/>
          <p:nvPr/>
        </p:nvSpPr>
        <p:spPr>
          <a:xfrm>
            <a:off x="3677070" y="1884952"/>
            <a:ext cx="48294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Get All Questions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283111-DFBC-43CB-BA43-19DEA6F15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1894" y="5043903"/>
            <a:ext cx="785984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Retrieves a single question and its related answers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Uses the </a:t>
            </a:r>
            <a:r>
              <a:rPr kumimoji="0" lang="hu-HU" altLang="hu-H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GET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method on the </a:t>
            </a:r>
            <a:r>
              <a:rPr kumimoji="0" lang="hu-HU" altLang="hu-H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/Question/{id} 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endpoint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Helps users view detailed information about one question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Useful for question pages with answers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20B1C3-27C9-08DD-E749-716409F8CB6E}"/>
              </a:ext>
            </a:extLst>
          </p:cNvPr>
          <p:cNvSpPr txBox="1"/>
          <p:nvPr/>
        </p:nvSpPr>
        <p:spPr>
          <a:xfrm>
            <a:off x="3654210" y="4342951"/>
            <a:ext cx="48752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Get </a:t>
            </a:r>
            <a:r>
              <a:rPr kumimoji="0" lang="hu-HU" altLang="hu-H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One</a:t>
            </a:r>
            <a:r>
              <a:rPr kumimoji="0" lang="hu-HU" altLang="hu-H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 Question by ID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6B0BCC-5C6F-1B08-CB5B-54EE0E100E33}"/>
              </a:ext>
            </a:extLst>
          </p:cNvPr>
          <p:cNvSpPr/>
          <p:nvPr/>
        </p:nvSpPr>
        <p:spPr>
          <a:xfrm>
            <a:off x="1431246" y="4016757"/>
            <a:ext cx="9321144" cy="1002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2" name="Picture 11" descr="A blue book with black background&#10;&#10;AI-generated content may be incorrect.">
            <a:extLst>
              <a:ext uri="{FF2B5EF4-FFF2-40B4-BE49-F238E27FC236}">
                <a16:creationId xmlns:a16="http://schemas.microsoft.com/office/drawing/2014/main" id="{BFA01BB7-C641-6635-5B77-3F5D49F0DD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60" y="39562"/>
            <a:ext cx="1729247" cy="145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4077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2" grpId="0"/>
      <p:bldP spid="4" grpId="0"/>
      <p:bldP spid="5" grpId="0"/>
      <p:bldP spid="7" grpId="0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A6AFAE"/>
            </a:gs>
            <a:gs pos="0">
              <a:srgbClr val="FFE2C8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63AB24-7C08-AB9D-1EE1-14604E98D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5BFFC9A-C852-E624-2FFD-509E9DD15AC4}"/>
              </a:ext>
            </a:extLst>
          </p:cNvPr>
          <p:cNvSpPr txBox="1"/>
          <p:nvPr/>
        </p:nvSpPr>
        <p:spPr>
          <a:xfrm>
            <a:off x="4541820" y="16061"/>
            <a:ext cx="31187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spc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CR</a:t>
            </a:r>
            <a:r>
              <a:rPr lang="hu-HU" sz="9600" spc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U</a:t>
            </a:r>
            <a:r>
              <a:rPr lang="hu-HU" sz="4000" spc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642920-60A3-A71D-2C5F-06D00EBC86F3}"/>
              </a:ext>
            </a:extLst>
          </p:cNvPr>
          <p:cNvSpPr txBox="1"/>
          <p:nvPr/>
        </p:nvSpPr>
        <p:spPr>
          <a:xfrm>
            <a:off x="542523" y="1784639"/>
            <a:ext cx="477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hu-HU" altLang="hu-H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Log In a User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A0AA5B-45D2-F1F8-C2EF-4A798DCD36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62" y="19399"/>
            <a:ext cx="1441914" cy="1493823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73371DE8-FCF6-D3A4-4F0F-17BB951A8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728" y="2265490"/>
            <a:ext cx="6075702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Authenticates an existing user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Uses the 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POST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method on the 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/User/Login 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endpoint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Accepts email or username with password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Required before asking or answering questions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AB08F74-E449-37E6-BD26-E21DAA0CC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728" y="5630122"/>
            <a:ext cx="655660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Ends the session for a logged-in user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Uses the 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POST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method on the 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/User/Logout 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endpoint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Prevents further actions until the user logs back 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A5D6DB-1A8F-0888-1E4F-61DC8A100B15}"/>
              </a:ext>
            </a:extLst>
          </p:cNvPr>
          <p:cNvSpPr txBox="1"/>
          <p:nvPr/>
        </p:nvSpPr>
        <p:spPr>
          <a:xfrm>
            <a:off x="1523379" y="5057706"/>
            <a:ext cx="3289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Log Out a User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9DC86E7-B497-DDDE-D6B9-AD1E41EE025D}"/>
              </a:ext>
            </a:extLst>
          </p:cNvPr>
          <p:cNvGrpSpPr/>
          <p:nvPr/>
        </p:nvGrpSpPr>
        <p:grpSpPr>
          <a:xfrm>
            <a:off x="4362469" y="1513223"/>
            <a:ext cx="8218972" cy="5436217"/>
            <a:chOff x="4362469" y="1513223"/>
            <a:chExt cx="8218972" cy="5436217"/>
          </a:xfrm>
        </p:grpSpPr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0C2C00E8-26B3-EB8A-EB66-4BA5EBA4F3A0}"/>
                </a:ext>
              </a:extLst>
            </p:cNvPr>
            <p:cNvSpPr/>
            <p:nvPr/>
          </p:nvSpPr>
          <p:spPr>
            <a:xfrm rot="17804190">
              <a:off x="7902754" y="1579025"/>
              <a:ext cx="1353571" cy="8003802"/>
            </a:xfrm>
            <a:prstGeom prst="triangle">
              <a:avLst>
                <a:gd name="adj" fmla="val 0"/>
              </a:avLst>
            </a:prstGeom>
            <a:solidFill>
              <a:srgbClr val="FFE2C8"/>
            </a:solidFill>
            <a:ln>
              <a:solidFill>
                <a:srgbClr val="FFE2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2" name="Isosceles Triangle 61">
              <a:extLst>
                <a:ext uri="{FF2B5EF4-FFF2-40B4-BE49-F238E27FC236}">
                  <a16:creationId xmlns:a16="http://schemas.microsoft.com/office/drawing/2014/main" id="{99272FB3-89D8-FAF4-4204-9F9408A2C5C7}"/>
                </a:ext>
              </a:extLst>
            </p:cNvPr>
            <p:cNvSpPr/>
            <p:nvPr/>
          </p:nvSpPr>
          <p:spPr>
            <a:xfrm rot="14874561">
              <a:off x="6480299" y="359990"/>
              <a:ext cx="1111064" cy="5346724"/>
            </a:xfrm>
            <a:prstGeom prst="triangle">
              <a:avLst>
                <a:gd name="adj" fmla="val 17659"/>
              </a:avLst>
            </a:prstGeom>
            <a:solidFill>
              <a:srgbClr val="FFE2C8"/>
            </a:solidFill>
            <a:ln>
              <a:solidFill>
                <a:srgbClr val="FFE2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8752BFB-990C-3EDB-D024-8D4288E0DA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29150" y="1513223"/>
              <a:ext cx="4674870" cy="285875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D3FD370-D3B5-7AD8-7E2C-E295CCACAD42}"/>
                </a:ext>
              </a:extLst>
            </p:cNvPr>
            <p:cNvSpPr/>
            <p:nvPr/>
          </p:nvSpPr>
          <p:spPr>
            <a:xfrm>
              <a:off x="9268036" y="1549400"/>
              <a:ext cx="2896341" cy="973152"/>
            </a:xfrm>
            <a:prstGeom prst="rect">
              <a:avLst/>
            </a:prstGeom>
            <a:solidFill>
              <a:srgbClr val="FFE2C8"/>
            </a:solidFill>
            <a:ln>
              <a:solidFill>
                <a:srgbClr val="FFE2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1" name="Isosceles Triangle 60">
              <a:extLst>
                <a:ext uri="{FF2B5EF4-FFF2-40B4-BE49-F238E27FC236}">
                  <a16:creationId xmlns:a16="http://schemas.microsoft.com/office/drawing/2014/main" id="{4C61762F-62CF-7746-37EA-586BA25DF29B}"/>
                </a:ext>
              </a:extLst>
            </p:cNvPr>
            <p:cNvSpPr/>
            <p:nvPr/>
          </p:nvSpPr>
          <p:spPr>
            <a:xfrm rot="16200000">
              <a:off x="5776517" y="442515"/>
              <a:ext cx="5308599" cy="7522370"/>
            </a:xfrm>
            <a:prstGeom prst="triangle">
              <a:avLst>
                <a:gd name="adj" fmla="val 46734"/>
              </a:avLst>
            </a:prstGeom>
            <a:solidFill>
              <a:srgbClr val="FFE2C8"/>
            </a:solidFill>
            <a:ln>
              <a:solidFill>
                <a:srgbClr val="FFE2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B213109-23FB-0B8E-2463-17DE11D11A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9150" y="4367213"/>
              <a:ext cx="5177790" cy="258222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DD933223-1C10-6DE3-159E-E85074C7C182}"/>
                </a:ext>
              </a:extLst>
            </p:cNvPr>
            <p:cNvSpPr/>
            <p:nvPr/>
          </p:nvSpPr>
          <p:spPr>
            <a:xfrm>
              <a:off x="4614368" y="434583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76811379-9CFF-68EB-9E96-F5CC8766B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7299" y="3752771"/>
              <a:ext cx="7157729" cy="1354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hu-HU" altLang="hu-HU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scadia Code" panose="020B0609020000020004" pitchFamily="49" charset="0"/>
                  <a:cs typeface="Cascadia Code" panose="020B0609020000020004" pitchFamily="49" charset="0"/>
                </a:rPr>
                <a:t>Marks an answer as accepted for a question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hu-HU" altLang="hu-HU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scadia Code" panose="020B0609020000020004" pitchFamily="49" charset="0"/>
                  <a:cs typeface="Cascadia Code" panose="020B0609020000020004" pitchFamily="49" charset="0"/>
                </a:rPr>
                <a:t>Uses the </a:t>
              </a:r>
              <a:r>
                <a:rPr kumimoji="0" lang="hu-HU" altLang="hu-HU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scadia Code" panose="020B0609020000020004" pitchFamily="49" charset="0"/>
                  <a:cs typeface="Cascadia Code" panose="020B0609020000020004" pitchFamily="49" charset="0"/>
                </a:rPr>
                <a:t>PATCH</a:t>
              </a:r>
              <a:r>
                <a:rPr kumimoji="0" lang="hu-HU" altLang="hu-HU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scadia Code" panose="020B0609020000020004" pitchFamily="49" charset="0"/>
                  <a:cs typeface="Cascadia Code" panose="020B0609020000020004" pitchFamily="49" charset="0"/>
                </a:rPr>
                <a:t> method on the </a:t>
              </a:r>
              <a:r>
                <a:rPr kumimoji="0" lang="hu-HU" altLang="hu-HU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scadia Code" panose="020B0609020000020004" pitchFamily="49" charset="0"/>
                  <a:cs typeface="Cascadia Code" panose="020B0609020000020004" pitchFamily="49" charset="0"/>
                </a:rPr>
                <a:t>/Answer/Accept/{id}</a:t>
              </a:r>
              <a:r>
                <a:rPr kumimoji="0" lang="hu-HU" altLang="hu-HU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scadia Code" panose="020B0609020000020004" pitchFamily="49" charset="0"/>
                  <a:cs typeface="Cascadia Code" panose="020B0609020000020004" pitchFamily="49" charset="0"/>
                </a:rPr>
                <a:t> endpoint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hu-HU" altLang="hu-HU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scadia Code" panose="020B0609020000020004" pitchFamily="49" charset="0"/>
                  <a:cs typeface="Cascadia Code" panose="020B0609020000020004" pitchFamily="49" charset="0"/>
                </a:rPr>
                <a:t>Only the user who asked the question can accept answers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hu-HU" altLang="hu-HU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scadia Code" panose="020B0609020000020004" pitchFamily="49" charset="0"/>
                  <a:cs typeface="Cascadia Code" panose="020B0609020000020004" pitchFamily="49" charset="0"/>
                </a:rPr>
                <a:t>Highlights the best solution for future readers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920CA27-BB13-3DD3-32E6-8CB3C1FB4AA2}"/>
                </a:ext>
              </a:extLst>
            </p:cNvPr>
            <p:cNvSpPr txBox="1"/>
            <p:nvPr/>
          </p:nvSpPr>
          <p:spPr>
            <a:xfrm>
              <a:off x="7468356" y="3275755"/>
              <a:ext cx="367132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hu-HU" altLang="hu-HU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Mono SemiBold" panose="020B0609020000020004" pitchFamily="49" charset="0"/>
                  <a:cs typeface="Cascadia Mono SemiBold" panose="020B0609020000020004" pitchFamily="49" charset="0"/>
                </a:rPr>
                <a:t>Accept an Answer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1E24FFE7-DE69-EB0D-0E01-53C961B6FC68}"/>
              </a:ext>
            </a:extLst>
          </p:cNvPr>
          <p:cNvSpPr/>
          <p:nvPr/>
        </p:nvSpPr>
        <p:spPr>
          <a:xfrm>
            <a:off x="-8360" y="1490773"/>
            <a:ext cx="12200360" cy="1002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274326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4" grpId="0"/>
      <p:bldP spid="5" grpId="0"/>
      <p:bldP spid="7" grpId="0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6AFAE"/>
            </a:gs>
            <a:gs pos="100000">
              <a:srgbClr val="FFE2C8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B2995D-B8C3-CE4E-7CE1-549231369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66204EA-4148-547D-B2F3-E1007F2C0A2C}"/>
              </a:ext>
            </a:extLst>
          </p:cNvPr>
          <p:cNvSpPr txBox="1"/>
          <p:nvPr/>
        </p:nvSpPr>
        <p:spPr>
          <a:xfrm>
            <a:off x="4408583" y="9393"/>
            <a:ext cx="31187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spc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CRU</a:t>
            </a:r>
            <a:r>
              <a:rPr lang="hu-HU" sz="9600" spc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82688A-497F-FEC6-82E0-AC5C3E844EFF}"/>
              </a:ext>
            </a:extLst>
          </p:cNvPr>
          <p:cNvSpPr/>
          <p:nvPr/>
        </p:nvSpPr>
        <p:spPr>
          <a:xfrm>
            <a:off x="-8360" y="1490773"/>
            <a:ext cx="12200360" cy="1002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87684A-79F5-5196-A0A3-5FCC4BB0B0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" y="11673"/>
            <a:ext cx="1078892" cy="1505954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F2142AC-3224-4854-93BE-69F8C83A0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3400" y="2533364"/>
            <a:ext cx="6676828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Removes a question from the database by ID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Uses the 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DELETE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method on the 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/Question/{id} 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endpoint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Helps clean up or remove unwanted questions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Only existing questions can be deleted</a:t>
            </a:r>
          </a:p>
          <a:p>
            <a:pPr marL="285750" marR="0" lvl="0" indent="-2857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E281FF-85C8-7EA7-868E-B7C24909904F}"/>
              </a:ext>
            </a:extLst>
          </p:cNvPr>
          <p:cNvSpPr txBox="1"/>
          <p:nvPr/>
        </p:nvSpPr>
        <p:spPr>
          <a:xfrm>
            <a:off x="4196556" y="1867260"/>
            <a:ext cx="37988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Delete a Question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E0216B-A7ED-945F-A4D5-1F3EFC9386E7}"/>
              </a:ext>
            </a:extLst>
          </p:cNvPr>
          <p:cNvSpPr/>
          <p:nvPr/>
        </p:nvSpPr>
        <p:spPr>
          <a:xfrm>
            <a:off x="2838687" y="4047150"/>
            <a:ext cx="6506254" cy="1002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75E748A7-DD32-FE41-26A0-86EDDE214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8382" y="5367227"/>
            <a:ext cx="5626861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Removes an answer from the database by ID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the 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method on the 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/Answer/{id}</a:t>
            </a: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endpoint</a:t>
            </a:r>
            <a:endParaRPr kumimoji="0" lang="hu-HU" altLang="hu-H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only valid and useful answers remain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66CC86-1353-B9E0-FF45-CB2867283E2B}"/>
              </a:ext>
            </a:extLst>
          </p:cNvPr>
          <p:cNvSpPr txBox="1"/>
          <p:nvPr/>
        </p:nvSpPr>
        <p:spPr>
          <a:xfrm>
            <a:off x="4299013" y="4537514"/>
            <a:ext cx="35856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Delete an Answer</a:t>
            </a:r>
          </a:p>
        </p:txBody>
      </p:sp>
    </p:spTree>
    <p:extLst>
      <p:ext uri="{BB962C8B-B14F-4D97-AF65-F5344CB8AC3E}">
        <p14:creationId xmlns:p14="http://schemas.microsoft.com/office/powerpoint/2010/main" val="36614530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6" grpId="0"/>
      <p:bldP spid="12" grpId="0"/>
      <p:bldP spid="14" grpId="0" animBg="1"/>
      <p:bldP spid="15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E0C7"/>
            </a:gs>
            <a:gs pos="100000">
              <a:srgbClr val="A6AFAE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97F548-4912-8300-6947-DA7E89A64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01D333-C377-30F3-7389-4CBCB9E169BA}"/>
              </a:ext>
            </a:extLst>
          </p:cNvPr>
          <p:cNvSpPr txBox="1"/>
          <p:nvPr/>
        </p:nvSpPr>
        <p:spPr>
          <a:xfrm>
            <a:off x="2646362" y="330200"/>
            <a:ext cx="68992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8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Thank you for your attention!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20CDCF-61D9-95AC-E769-81F466ABD3A7}"/>
              </a:ext>
            </a:extLst>
          </p:cNvPr>
          <p:cNvSpPr txBox="1"/>
          <p:nvPr/>
        </p:nvSpPr>
        <p:spPr>
          <a:xfrm>
            <a:off x="2073271" y="2493326"/>
            <a:ext cx="80454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It's Q&amp;A time</a:t>
            </a:r>
            <a:r>
              <a:rPr lang="hu-HU" sz="24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.</a:t>
            </a:r>
            <a:br>
              <a:rPr lang="hu-HU" sz="24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hu-HU" sz="24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A</a:t>
            </a:r>
            <a:r>
              <a:rPr lang="en-US" sz="2400" dirty="0" err="1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nd</a:t>
            </a:r>
            <a:r>
              <a:rPr lang="en-US" sz="24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 yes, this endpoint accepts all inputs!</a:t>
            </a:r>
            <a:endParaRPr lang="hu-HU" sz="2400" b="1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D6677B-A162-A144-34E5-6064F5F091A5}"/>
              </a:ext>
            </a:extLst>
          </p:cNvPr>
          <p:cNvSpPr txBox="1"/>
          <p:nvPr/>
        </p:nvSpPr>
        <p:spPr>
          <a:xfrm>
            <a:off x="4062408" y="4068287"/>
            <a:ext cx="4067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Have a wonderful time asking, or answering!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3C874A-1E49-3657-C458-747F094AC7C9}"/>
              </a:ext>
            </a:extLst>
          </p:cNvPr>
          <p:cNvSpPr txBox="1"/>
          <p:nvPr/>
        </p:nvSpPr>
        <p:spPr>
          <a:xfrm>
            <a:off x="3895721" y="5836503"/>
            <a:ext cx="4400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Project made by:</a:t>
            </a:r>
            <a:br>
              <a:rPr lang="hu-HU" sz="24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hu-HU" sz="2400" b="1" i="1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Szabi, Zoli, Imi, Dani</a:t>
            </a:r>
          </a:p>
        </p:txBody>
      </p:sp>
    </p:spTree>
    <p:extLst>
      <p:ext uri="{BB962C8B-B14F-4D97-AF65-F5344CB8AC3E}">
        <p14:creationId xmlns:p14="http://schemas.microsoft.com/office/powerpoint/2010/main" val="3770975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uiExpand="1" build="allAtOnce"/>
      <p:bldP spid="9" grpId="0" build="allAtOnce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428</Words>
  <Application>Microsoft Office PowerPoint</Application>
  <PresentationFormat>Widescreen</PresentationFormat>
  <Paragraphs>65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Arial Unicode MS</vt:lpstr>
      <vt:lpstr>Cascadia Code</vt:lpstr>
      <vt:lpstr>Cascadia Mono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 SMONK</dc:creator>
  <cp:lastModifiedBy>HU SMONK</cp:lastModifiedBy>
  <cp:revision>4</cp:revision>
  <dcterms:created xsi:type="dcterms:W3CDTF">2025-07-24T19:58:17Z</dcterms:created>
  <dcterms:modified xsi:type="dcterms:W3CDTF">2025-07-24T22:12:45Z</dcterms:modified>
</cp:coreProperties>
</file>