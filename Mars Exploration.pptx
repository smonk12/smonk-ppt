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  <p:sldId id="256" r:id="rId3"/>
    <p:sldId id="258" r:id="rId4"/>
    <p:sldId id="259" r:id="rId5"/>
    <p:sldId id="260" r:id="rId6"/>
    <p:sldId id="261" r:id="rId7"/>
  </p:sldIdLst>
  <p:sldSz cx="12192000" cy="6858000"/>
  <p:notesSz cx="6858000" cy="9144000"/>
  <p:defaultTextStyle>
    <a:defPPr>
      <a:defRPr lang="hu-H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browse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D9D9D9"/>
    <a:srgbClr val="532209"/>
    <a:srgbClr val="ECF0F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014" autoAdjust="0"/>
    <p:restoredTop sz="94660"/>
  </p:normalViewPr>
  <p:slideViewPr>
    <p:cSldViewPr snapToGrid="0">
      <p:cViewPr varScale="1">
        <p:scale>
          <a:sx n="150" d="100"/>
          <a:sy n="150" d="100"/>
        </p:scale>
        <p:origin x="624" y="13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A1391AB-6B74-0D8F-7D92-EFD75FE274C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hu-HU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8191321-3CEE-EE87-D5BE-28C4510BEA3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hu-H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E396609-4A97-FD5C-A5EC-828753AFAF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976484-D3AA-431E-8362-BD612A68CA8E}" type="datetimeFigureOut">
              <a:rPr lang="hu-HU" smtClean="0"/>
              <a:t>2025. 06. 27.</a:t>
            </a:fld>
            <a:endParaRPr lang="hu-H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58F1BB2-3B1A-E859-C33D-B91505BD33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6C9C013-A570-11EB-1198-EF4DF95602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B0623A-7BAE-47CB-A627-031D57FF4171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389053525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A98164-E565-FD1B-4826-63F5FD3009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hu-H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AFD230E-B5B8-41AE-D13E-61C6B605DFF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hu-H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70BE14C-5B89-E79F-29B3-6306866F53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976484-D3AA-431E-8362-BD612A68CA8E}" type="datetimeFigureOut">
              <a:rPr lang="hu-HU" smtClean="0"/>
              <a:t>2025. 06. 27.</a:t>
            </a:fld>
            <a:endParaRPr lang="hu-H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4EA2725-BDCF-85E1-E88B-234202D9FF4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AF8911C-02A8-D14F-C6C9-A17B74E757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B0623A-7BAE-47CB-A627-031D57FF4171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75911340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9F67D0-951C-51EB-7669-F44F227398B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hu-H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603D57B-807F-3C31-5601-D9E01ED58CC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C7CC466-1AFB-2A9B-9637-FAC37F6AFA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976484-D3AA-431E-8362-BD612A68CA8E}" type="datetimeFigureOut">
              <a:rPr lang="hu-HU" smtClean="0"/>
              <a:t>2025. 06. 27.</a:t>
            </a:fld>
            <a:endParaRPr lang="hu-H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5D86D5D-508B-8066-0561-CB97EFB6AC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51B910A-FEE5-1536-C260-DE19393A97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B0623A-7BAE-47CB-A627-031D57FF4171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362523781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3B3E1CF-29FD-E80C-BFE1-3B0DAF56F49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hu-H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E025F20-DEBF-4F84-EC4C-F19C189F7A6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hu-HU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D8F656E-6F9A-976F-F66C-C15F742B68B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hu-HU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ACDC448-AE45-19D6-C63E-25EE50D42C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976484-D3AA-431E-8362-BD612A68CA8E}" type="datetimeFigureOut">
              <a:rPr lang="hu-HU" smtClean="0"/>
              <a:t>2025. 06. 27.</a:t>
            </a:fld>
            <a:endParaRPr lang="hu-H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5B3D067-CA91-4B67-ABEC-82FAE6D9CF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BF703D5-F6DE-33CA-302A-89E53E0A0A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B0623A-7BAE-47CB-A627-031D57FF4171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407676429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A2F4C7-0DD2-EF47-8C0B-6AAF6169A34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hu-H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31B76F1-2472-8A15-AF34-CEA188895A8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42579CC-DBDA-5895-1C12-5CA1132BB19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hu-HU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3B05AF5-2AAB-3933-610E-46ED6D0BEA5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001627B5-2F6F-4E65-F9CE-4D77392D48D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hu-HU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E7F10BF0-F177-CF54-C830-78F090B730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976484-D3AA-431E-8362-BD612A68CA8E}" type="datetimeFigureOut">
              <a:rPr lang="hu-HU" smtClean="0"/>
              <a:t>2025. 06. 27.</a:t>
            </a:fld>
            <a:endParaRPr lang="hu-HU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B729CF2C-54E2-0A9E-29CC-77BEE69F50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7EEEE0E1-0BF1-E3D6-5250-9BEE556113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B0623A-7BAE-47CB-A627-031D57FF4171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385895632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2A0F98-9725-5B01-5BE9-E44CAD448A9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hu-HU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D74AF78-6967-847E-D927-08139122CC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976484-D3AA-431E-8362-BD612A68CA8E}" type="datetimeFigureOut">
              <a:rPr lang="hu-HU" smtClean="0"/>
              <a:t>2025. 06. 27.</a:t>
            </a:fld>
            <a:endParaRPr lang="hu-HU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2830891-F3B0-EE9A-D100-EC6A9F04334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8240A5D-26BB-ED3B-013E-836B85076D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B0623A-7BAE-47CB-A627-031D57FF4171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392638827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84754DB-AC53-2934-3466-44C7C726FAE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976484-D3AA-431E-8362-BD612A68CA8E}" type="datetimeFigureOut">
              <a:rPr lang="hu-HU" smtClean="0"/>
              <a:t>2025. 06. 27.</a:t>
            </a:fld>
            <a:endParaRPr lang="hu-HU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8AD0584-4BAD-5F8F-9D6E-545B5CE8BA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7DDFEB3-F4C9-44F7-2B25-1C5E011FC0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B0623A-7BAE-47CB-A627-031D57FF4171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242924310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9232BFA-E7F3-465E-E296-D40A646EC0E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hu-H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980CF01-F770-BEF6-5A5D-97E712FCF53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hu-HU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737A2A0-B9FC-F84A-DBB4-A7A44939153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3D8A3AE-DB1D-6030-5390-58BA8CEA1C2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976484-D3AA-431E-8362-BD612A68CA8E}" type="datetimeFigureOut">
              <a:rPr lang="hu-HU" smtClean="0"/>
              <a:t>2025. 06. 27.</a:t>
            </a:fld>
            <a:endParaRPr lang="hu-H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0BAA958-B545-C11F-F97E-DD19605CFE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11CF683-3378-F529-7168-1D53FEE557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B0623A-7BAE-47CB-A627-031D57FF4171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308405016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E4180EF-32D6-F367-F285-D173C04C12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hu-HU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85C45581-7B75-F7DC-2AFE-54B8CE4DB7A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hu-HU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FFA597A-B9AF-0AEE-5077-DDBABBBC97F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ABA54C9-5EA6-1125-33FE-4CCCB9F3E44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976484-D3AA-431E-8362-BD612A68CA8E}" type="datetimeFigureOut">
              <a:rPr lang="hu-HU" smtClean="0"/>
              <a:t>2025. 06. 27.</a:t>
            </a:fld>
            <a:endParaRPr lang="hu-H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92A98B4-D7DA-2653-D58F-18AA970B91E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D580F34-F7BE-3499-86F4-19021AD442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B0623A-7BAE-47CB-A627-031D57FF4171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258202664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44C5352-9662-BDF3-4B05-A3D8C3A967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hu-HU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A7B343D-3C98-EF62-1525-A4C817C8D73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hu-H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BC89900-24C9-A2EF-861C-A19C341DA80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976484-D3AA-431E-8362-BD612A68CA8E}" type="datetimeFigureOut">
              <a:rPr lang="hu-HU" smtClean="0"/>
              <a:t>2025. 06. 27.</a:t>
            </a:fld>
            <a:endParaRPr lang="hu-H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93385C3-7729-1D9B-1690-9B88B008B5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F320768-D9C0-F356-F44C-BB7FE9AE5A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B0623A-7BAE-47CB-A627-031D57FF4171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426039770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EE6CE53B-7E54-FF78-ABE8-CDBA01932F7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hu-HU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42E156D-57D9-3270-043E-5829CAD7966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hu-H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A609DAD-0221-E6AF-E615-BED3AA76D8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976484-D3AA-431E-8362-BD612A68CA8E}" type="datetimeFigureOut">
              <a:rPr lang="hu-HU" smtClean="0"/>
              <a:t>2025. 06. 27.</a:t>
            </a:fld>
            <a:endParaRPr lang="hu-H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16D96BA-3B4E-383C-FB92-B1E4020F6C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CFA5350-E57C-90FB-B1D5-A4D3DE04E3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B0623A-7BAE-47CB-A627-031D57FF4171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237386930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FE2393C3-1F60-5452-C76E-83CB079E8A9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hu-H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F1C64A0-5840-D2B7-0855-06A6998FFF6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hu-H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38890AC-ADBD-763D-B5FA-4717286204C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4976484-D3AA-431E-8362-BD612A68CA8E}" type="datetimeFigureOut">
              <a:rPr lang="hu-HU" smtClean="0"/>
              <a:t>2025. 06. 27.</a:t>
            </a:fld>
            <a:endParaRPr lang="hu-H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1AB24E9-8FEF-8A8C-ABA4-5AF467670CC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hu-H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896ABB0-DC23-7A26-E1F1-161AC73A751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9B0623A-7BAE-47CB-A627-031D57FF4171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134019130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hu-H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29965211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 descr="A red planet with black background&#10;&#10;AI-generated content may be incorrect.">
            <a:extLst>
              <a:ext uri="{FF2B5EF4-FFF2-40B4-BE49-F238E27FC236}">
                <a16:creationId xmlns:a16="http://schemas.microsoft.com/office/drawing/2014/main" id="{E850A3B3-382B-9BCF-BBC4-B89BCA25A83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E13DC688-0B94-3314-EC9F-75092138A2CB}"/>
              </a:ext>
            </a:extLst>
          </p:cNvPr>
          <p:cNvSpPr txBox="1"/>
          <p:nvPr/>
        </p:nvSpPr>
        <p:spPr>
          <a:xfrm>
            <a:off x="3730625" y="1729302"/>
            <a:ext cx="4730750" cy="1323439"/>
          </a:xfrm>
          <a:prstGeom prst="rect">
            <a:avLst/>
          </a:prstGeom>
          <a:noFill/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txBody>
          <a:bodyPr wrap="square" rtlCol="0">
            <a:spAutoFit/>
          </a:bodyPr>
          <a:lstStyle/>
          <a:p>
            <a:pPr algn="ctr"/>
            <a:r>
              <a:rPr lang="sv-SE" sz="4000" b="1" dirty="0">
                <a:latin typeface="Agency FB" panose="020B0503020202020204" pitchFamily="34" charset="0"/>
              </a:rPr>
              <a:t>Mars Exploration</a:t>
            </a:r>
            <a:br>
              <a:rPr lang="hu-HU" sz="4000" b="1" dirty="0">
                <a:latin typeface="Agency FB" panose="020B0503020202020204" pitchFamily="34" charset="0"/>
              </a:rPr>
            </a:br>
            <a:r>
              <a:rPr lang="sv-SE" sz="4000" b="1" dirty="0">
                <a:latin typeface="Agency FB" panose="020B0503020202020204" pitchFamily="34" charset="0"/>
              </a:rPr>
              <a:t>Random Map Generator</a:t>
            </a:r>
            <a:endParaRPr lang="hu-HU" sz="4000" b="1" dirty="0">
              <a:latin typeface="Agency FB" panose="020B0503020202020204" pitchFamily="34" charset="0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E6298D18-2902-705C-BDD5-33732FD1A13C}"/>
              </a:ext>
            </a:extLst>
          </p:cNvPr>
          <p:cNvSpPr txBox="1"/>
          <p:nvPr/>
        </p:nvSpPr>
        <p:spPr>
          <a:xfrm>
            <a:off x="4613910" y="6180802"/>
            <a:ext cx="2964180" cy="400110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solidFill>
              <a:schemeClr val="accent2">
                <a:lumMod val="75000"/>
              </a:schemeClr>
            </a:solidFill>
          </a:ln>
          <a:effectLst/>
          <a:scene3d>
            <a:camera prst="orthographicFront">
              <a:rot lat="0" lon="0" rev="0"/>
            </a:camera>
            <a:lightRig rig="chilly" dir="t">
              <a:rot lat="0" lon="0" rev="18480000"/>
            </a:lightRig>
          </a:scene3d>
          <a:sp3d prstMaterial="clear">
            <a:bevelT h="63500"/>
          </a:sp3d>
        </p:spPr>
        <p:txBody>
          <a:bodyPr wrap="square" rtlCol="0">
            <a:spAutoFit/>
          </a:bodyPr>
          <a:lstStyle/>
          <a:p>
            <a:pPr algn="ctr"/>
            <a:r>
              <a:rPr lang="hu-HU" sz="2000" dirty="0">
                <a:solidFill>
                  <a:schemeClr val="bg1"/>
                </a:solidFill>
                <a:latin typeface="Agency FB" panose="020B0503020202020204" pitchFamily="34" charset="0"/>
              </a:rPr>
              <a:t>A Project developed by: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106430ED-9B58-B6BC-0B1B-02E869E1A096}"/>
              </a:ext>
            </a:extLst>
          </p:cNvPr>
          <p:cNvSpPr txBox="1"/>
          <p:nvPr/>
        </p:nvSpPr>
        <p:spPr>
          <a:xfrm>
            <a:off x="274320" y="184755"/>
            <a:ext cx="83058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hu-HU" sz="3200" dirty="0">
                <a:solidFill>
                  <a:schemeClr val="bg1"/>
                </a:solidFill>
                <a:latin typeface="Agency FB" panose="020B0503020202020204" pitchFamily="34" charset="0"/>
              </a:rPr>
              <a:t>Zoli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BCD86F42-2E37-CCD0-8709-391EB16DDB7D}"/>
              </a:ext>
            </a:extLst>
          </p:cNvPr>
          <p:cNvSpPr txBox="1"/>
          <p:nvPr/>
        </p:nvSpPr>
        <p:spPr>
          <a:xfrm>
            <a:off x="213360" y="6088470"/>
            <a:ext cx="9525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hu-HU" sz="3200" dirty="0">
                <a:solidFill>
                  <a:schemeClr val="bg1"/>
                </a:solidFill>
                <a:latin typeface="Agency FB" panose="020B0503020202020204" pitchFamily="34" charset="0"/>
              </a:rPr>
              <a:t>Dani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6A88FB8C-65D7-B6C5-5914-2A83F7098917}"/>
              </a:ext>
            </a:extLst>
          </p:cNvPr>
          <p:cNvSpPr txBox="1"/>
          <p:nvPr/>
        </p:nvSpPr>
        <p:spPr>
          <a:xfrm>
            <a:off x="10877550" y="184755"/>
            <a:ext cx="104013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hu-HU" sz="3200" dirty="0">
                <a:solidFill>
                  <a:schemeClr val="bg1"/>
                </a:solidFill>
                <a:latin typeface="Agency FB" panose="020B0503020202020204" pitchFamily="34" charset="0"/>
              </a:rPr>
              <a:t>Szabi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A40D11B8-64D9-7AC2-82E2-8132783826FD}"/>
              </a:ext>
            </a:extLst>
          </p:cNvPr>
          <p:cNvSpPr txBox="1"/>
          <p:nvPr/>
        </p:nvSpPr>
        <p:spPr>
          <a:xfrm>
            <a:off x="11068050" y="6088470"/>
            <a:ext cx="65913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hu-HU" sz="3200" dirty="0">
                <a:solidFill>
                  <a:schemeClr val="bg1"/>
                </a:solidFill>
                <a:latin typeface="Agency FB" panose="020B0503020202020204" pitchFamily="34" charset="0"/>
              </a:rPr>
              <a:t>Imi</a:t>
            </a:r>
          </a:p>
        </p:txBody>
      </p:sp>
    </p:spTree>
    <p:extLst>
      <p:ext uri="{BB962C8B-B14F-4D97-AF65-F5344CB8AC3E}">
        <p14:creationId xmlns:p14="http://schemas.microsoft.com/office/powerpoint/2010/main" val="148568998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3000">
        <p:push dir="u"/>
      </p:transition>
    </mc:Choice>
    <mc:Fallback xmlns="">
      <p:transition spd="slow">
        <p:push dir="u"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47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1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7" presetID="47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10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2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10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5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nimBg="1"/>
      <p:bldP spid="14" grpId="0"/>
      <p:bldP spid="15" grpId="0"/>
      <p:bldP spid="16" grpId="0"/>
      <p:bldP spid="17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A mars rover on the surface of mars&#10;&#10;AI-generated content may be incorrect.">
            <a:extLst>
              <a:ext uri="{FF2B5EF4-FFF2-40B4-BE49-F238E27FC236}">
                <a16:creationId xmlns:a16="http://schemas.microsoft.com/office/drawing/2014/main" id="{D9025BDC-27BA-8835-1557-76398BAE012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60134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9E1588BF-587A-F0A2-DE3C-442303403C38}"/>
              </a:ext>
            </a:extLst>
          </p:cNvPr>
          <p:cNvSpPr txBox="1"/>
          <p:nvPr/>
        </p:nvSpPr>
        <p:spPr>
          <a:xfrm>
            <a:off x="83820" y="99060"/>
            <a:ext cx="2667000" cy="1015663"/>
          </a:xfrm>
          <a:prstGeom prst="rect">
            <a:avLst/>
          </a:prstGeom>
          <a:noFill/>
          <a:ln>
            <a:noFill/>
          </a:ln>
          <a:effectLst/>
          <a:scene3d>
            <a:camera prst="orthographicFront">
              <a:rot lat="0" lon="0" rev="0"/>
            </a:camera>
            <a:lightRig rig="chilly" dir="t">
              <a:rot lat="0" lon="0" rev="18480000"/>
            </a:lightRig>
          </a:scene3d>
          <a:sp3d prstMaterial="clear">
            <a:bevelT h="63500"/>
          </a:sp3d>
        </p:spPr>
        <p:txBody>
          <a:bodyPr wrap="square" rtlCol="0">
            <a:spAutoFit/>
          </a:bodyPr>
          <a:lstStyle/>
          <a:p>
            <a:pPr algn="ctr"/>
            <a:r>
              <a:rPr lang="hu-HU" sz="2000" b="1" dirty="0">
                <a:latin typeface="Agency FB" panose="020B0503020202020204" pitchFamily="34" charset="0"/>
              </a:rPr>
              <a:t>Our goal</a:t>
            </a:r>
          </a:p>
          <a:p>
            <a:pPr algn="ctr"/>
            <a:r>
              <a:rPr lang="en-US" sz="2000" dirty="0">
                <a:latin typeface="Agency FB" panose="020B0503020202020204" pitchFamily="34" charset="0"/>
              </a:rPr>
              <a:t>Simulate Mars terrain by generating randomized maps.</a:t>
            </a:r>
            <a:endParaRPr lang="hu-HU" sz="2000" dirty="0">
              <a:latin typeface="Agency FB" panose="020B0503020202020204" pitchFamily="34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33F33109-79B7-4C03-664D-7F00B749518C}"/>
              </a:ext>
            </a:extLst>
          </p:cNvPr>
          <p:cNvSpPr txBox="1"/>
          <p:nvPr/>
        </p:nvSpPr>
        <p:spPr>
          <a:xfrm>
            <a:off x="9319260" y="99059"/>
            <a:ext cx="2788920" cy="1015663"/>
          </a:xfrm>
          <a:prstGeom prst="rect">
            <a:avLst/>
          </a:prstGeom>
          <a:noFill/>
          <a:ln>
            <a:noFill/>
          </a:ln>
          <a:effectLst/>
          <a:scene3d>
            <a:camera prst="orthographicFront">
              <a:rot lat="0" lon="0" rev="0"/>
            </a:camera>
            <a:lightRig rig="chilly" dir="t">
              <a:rot lat="0" lon="0" rev="18480000"/>
            </a:lightRig>
          </a:scene3d>
          <a:sp3d prstMaterial="clear">
            <a:bevelT h="63500"/>
          </a:sp3d>
        </p:spPr>
        <p:txBody>
          <a:bodyPr wrap="square" rtlCol="0">
            <a:spAutoFit/>
          </a:bodyPr>
          <a:lstStyle/>
          <a:p>
            <a:pPr algn="ctr"/>
            <a:r>
              <a:rPr lang="en-US" sz="2000" b="1" dirty="0">
                <a:latin typeface="Agency FB" panose="020B0503020202020204" pitchFamily="34" charset="0"/>
              </a:rPr>
              <a:t>Why?</a:t>
            </a:r>
            <a:endParaRPr lang="hu-HU" sz="2000" dirty="0">
              <a:latin typeface="Agency FB" panose="020B0503020202020204" pitchFamily="34" charset="0"/>
            </a:endParaRPr>
          </a:p>
          <a:p>
            <a:pPr algn="ctr"/>
            <a:r>
              <a:rPr lang="en-US" sz="2000" dirty="0">
                <a:latin typeface="Agency FB" panose="020B0503020202020204" pitchFamily="34" charset="0"/>
              </a:rPr>
              <a:t>Test rover navigation software in realistic, changing terrain.</a:t>
            </a:r>
            <a:endParaRPr lang="hu-HU" sz="2000" dirty="0">
              <a:latin typeface="Agency FB" panose="020B0503020202020204" pitchFamily="34" charset="0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C513845C-8E17-4C8B-5328-48A64B4ABC30}"/>
              </a:ext>
            </a:extLst>
          </p:cNvPr>
          <p:cNvSpPr txBox="1"/>
          <p:nvPr/>
        </p:nvSpPr>
        <p:spPr>
          <a:xfrm>
            <a:off x="83820" y="2644170"/>
            <a:ext cx="6096000" cy="1569660"/>
          </a:xfrm>
          <a:prstGeom prst="rect">
            <a:avLst/>
          </a:prstGeom>
          <a:solidFill>
            <a:srgbClr val="532209">
              <a:alpha val="64000"/>
            </a:srgbClr>
          </a:solidFill>
          <a:ln>
            <a:noFill/>
          </a:ln>
          <a:effectLst/>
        </p:spPr>
        <p:txBody>
          <a:bodyPr wrap="square">
            <a:spAutoFit/>
          </a:bodyPr>
          <a:lstStyle/>
          <a:p>
            <a:pPr algn="ctr">
              <a:buNone/>
            </a:pPr>
            <a:r>
              <a:rPr lang="en-US" sz="2400" b="1" dirty="0">
                <a:solidFill>
                  <a:schemeClr val="bg1"/>
                </a:solidFill>
                <a:latin typeface="Agency FB" panose="020B0503020202020204" pitchFamily="34" charset="0"/>
              </a:rPr>
              <a:t>Main Features</a:t>
            </a:r>
            <a:r>
              <a:rPr lang="en-US" sz="2400" dirty="0">
                <a:solidFill>
                  <a:schemeClr val="bg1"/>
                </a:solidFill>
                <a:latin typeface="Agency FB" panose="020B0503020202020204" pitchFamily="34" charset="0"/>
              </a:rPr>
              <a:t>:</a:t>
            </a:r>
          </a:p>
          <a:p>
            <a:pPr algn="ctr"/>
            <a:r>
              <a:rPr lang="hu-HU" sz="2400" dirty="0">
                <a:solidFill>
                  <a:schemeClr val="bg1"/>
                </a:solidFill>
                <a:latin typeface="Agency FB" panose="020B0503020202020204" pitchFamily="34" charset="0"/>
              </a:rPr>
              <a:t>- </a:t>
            </a:r>
            <a:r>
              <a:rPr lang="en-US" sz="2400" dirty="0">
                <a:solidFill>
                  <a:schemeClr val="bg1"/>
                </a:solidFill>
                <a:latin typeface="Agency FB" panose="020B0503020202020204" pitchFamily="34" charset="0"/>
              </a:rPr>
              <a:t>Create square maps with configurable size.</a:t>
            </a:r>
            <a:r>
              <a:rPr lang="hu-HU" sz="2400" dirty="0">
                <a:solidFill>
                  <a:schemeClr val="bg1"/>
                </a:solidFill>
                <a:latin typeface="Agency FB" panose="020B0503020202020204" pitchFamily="34" charset="0"/>
              </a:rPr>
              <a:t> - </a:t>
            </a:r>
            <a:endParaRPr lang="en-US" sz="2400" dirty="0">
              <a:solidFill>
                <a:schemeClr val="bg1"/>
              </a:solidFill>
              <a:latin typeface="Agency FB" panose="020B0503020202020204" pitchFamily="34" charset="0"/>
            </a:endParaRPr>
          </a:p>
          <a:p>
            <a:pPr algn="ctr"/>
            <a:r>
              <a:rPr lang="hu-HU" sz="2400" dirty="0">
                <a:solidFill>
                  <a:schemeClr val="bg1"/>
                </a:solidFill>
                <a:latin typeface="Agency FB" panose="020B0503020202020204" pitchFamily="34" charset="0"/>
              </a:rPr>
              <a:t>- </a:t>
            </a:r>
            <a:r>
              <a:rPr lang="en-US" sz="2400" dirty="0">
                <a:solidFill>
                  <a:schemeClr val="bg1"/>
                </a:solidFill>
                <a:latin typeface="Agency FB" panose="020B0503020202020204" pitchFamily="34" charset="0"/>
              </a:rPr>
              <a:t>Place </a:t>
            </a:r>
            <a:r>
              <a:rPr lang="en-US" sz="2400" b="1" dirty="0">
                <a:solidFill>
                  <a:schemeClr val="bg1"/>
                </a:solidFill>
                <a:latin typeface="Agency FB" panose="020B0503020202020204" pitchFamily="34" charset="0"/>
              </a:rPr>
              <a:t>terrain elements</a:t>
            </a:r>
            <a:r>
              <a:rPr lang="en-US" sz="2400" dirty="0">
                <a:solidFill>
                  <a:schemeClr val="bg1"/>
                </a:solidFill>
                <a:latin typeface="Agency FB" panose="020B0503020202020204" pitchFamily="34" charset="0"/>
              </a:rPr>
              <a:t> and </a:t>
            </a:r>
            <a:r>
              <a:rPr lang="en-US" sz="2400" b="1" dirty="0">
                <a:solidFill>
                  <a:schemeClr val="bg1"/>
                </a:solidFill>
                <a:latin typeface="Agency FB" panose="020B0503020202020204" pitchFamily="34" charset="0"/>
              </a:rPr>
              <a:t>resources</a:t>
            </a:r>
            <a:r>
              <a:rPr lang="en-US" sz="2400" dirty="0">
                <a:solidFill>
                  <a:schemeClr val="bg1"/>
                </a:solidFill>
                <a:latin typeface="Agency FB" panose="020B0503020202020204" pitchFamily="34" charset="0"/>
              </a:rPr>
              <a:t>.</a:t>
            </a:r>
            <a:r>
              <a:rPr lang="hu-HU" sz="2400" dirty="0">
                <a:solidFill>
                  <a:schemeClr val="bg1"/>
                </a:solidFill>
                <a:latin typeface="Agency FB" panose="020B0503020202020204" pitchFamily="34" charset="0"/>
              </a:rPr>
              <a:t> -</a:t>
            </a:r>
            <a:endParaRPr lang="en-US" sz="2400" dirty="0">
              <a:solidFill>
                <a:schemeClr val="bg1"/>
              </a:solidFill>
              <a:latin typeface="Agency FB" panose="020B0503020202020204" pitchFamily="34" charset="0"/>
            </a:endParaRPr>
          </a:p>
          <a:p>
            <a:pPr algn="ctr"/>
            <a:r>
              <a:rPr lang="hu-HU" sz="2400" dirty="0">
                <a:solidFill>
                  <a:schemeClr val="bg1"/>
                </a:solidFill>
                <a:latin typeface="Agency FB" panose="020B0503020202020204" pitchFamily="34" charset="0"/>
              </a:rPr>
              <a:t>- </a:t>
            </a:r>
            <a:r>
              <a:rPr lang="en-US" sz="2400" dirty="0">
                <a:solidFill>
                  <a:schemeClr val="bg1"/>
                </a:solidFill>
                <a:latin typeface="Agency FB" panose="020B0503020202020204" pitchFamily="34" charset="0"/>
              </a:rPr>
              <a:t>Configurable and repeatable map generation.</a:t>
            </a:r>
            <a:r>
              <a:rPr lang="hu-HU" sz="2400" dirty="0">
                <a:solidFill>
                  <a:schemeClr val="bg1"/>
                </a:solidFill>
                <a:latin typeface="Agency FB" panose="020B0503020202020204" pitchFamily="34" charset="0"/>
              </a:rPr>
              <a:t> -</a:t>
            </a:r>
            <a:endParaRPr lang="en-US" sz="2400" dirty="0">
              <a:solidFill>
                <a:schemeClr val="bg1"/>
              </a:solidFill>
              <a:latin typeface="Agency FB" panose="020B0503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3630461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split orient="vert"/>
      </p:transition>
    </mc:Choice>
    <mc:Fallback xmlns="">
      <p:transition spd="slow">
        <p:split orient="vert"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7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7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  <p:bldP spid="9" grpId="0"/>
      <p:bldP spid="11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5000">
              <a:schemeClr val="accent2">
                <a:lumMod val="40000"/>
                <a:lumOff val="60000"/>
              </a:schemeClr>
            </a:gs>
            <a:gs pos="16000">
              <a:schemeClr val="accent2">
                <a:lumMod val="60000"/>
                <a:lumOff val="40000"/>
              </a:schemeClr>
            </a:gs>
            <a:gs pos="89000">
              <a:schemeClr val="accent2">
                <a:lumMod val="50000"/>
              </a:schemeClr>
            </a:gs>
          </a:gsLst>
          <a:lin ang="540000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A black background with white dots&#10;&#10;AI-generated content may be incorrect.">
            <a:extLst>
              <a:ext uri="{FF2B5EF4-FFF2-40B4-BE49-F238E27FC236}">
                <a16:creationId xmlns:a16="http://schemas.microsoft.com/office/drawing/2014/main" id="{0FB8423A-59FE-56D4-2408-DD89D32B20D3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551" b="1"/>
          <a:stretch>
            <a:fillRect/>
          </a:stretch>
        </p:blipFill>
        <p:spPr>
          <a:xfrm>
            <a:off x="540328" y="643467"/>
            <a:ext cx="2674950" cy="5571066"/>
          </a:xfrm>
          <a:prstGeom prst="rect">
            <a:avLst/>
          </a:prstGeom>
        </p:spPr>
      </p:pic>
      <p:pic>
        <p:nvPicPr>
          <p:cNvPr id="7" name="Picture 6" descr="A black background with white dots&#10;&#10;AI-generated content may be incorrect.">
            <a:extLst>
              <a:ext uri="{FF2B5EF4-FFF2-40B4-BE49-F238E27FC236}">
                <a16:creationId xmlns:a16="http://schemas.microsoft.com/office/drawing/2014/main" id="{9E8ECFED-DA66-2E6D-5315-F37582FF393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976722" y="643467"/>
            <a:ext cx="2799460" cy="5571066"/>
          </a:xfrm>
          <a:prstGeom prst="rect">
            <a:avLst/>
          </a:prstGeom>
        </p:spPr>
      </p:pic>
      <p:sp>
        <p:nvSpPr>
          <p:cNvPr id="13" name="Rectangle 3">
            <a:extLst>
              <a:ext uri="{FF2B5EF4-FFF2-40B4-BE49-F238E27FC236}">
                <a16:creationId xmlns:a16="http://schemas.microsoft.com/office/drawing/2014/main" id="{EAD1FEF4-A33F-2718-817E-3F37622B4089}"/>
              </a:ext>
            </a:extLst>
          </p:cNvPr>
          <p:cNvSpPr>
            <a:spLocks noChangeArrowheads="1"/>
          </p:cNvSpPr>
          <p:nvPr/>
        </p:nvSpPr>
        <p:spPr bwMode="auto">
          <a:xfrm>
            <a:off x="4312817" y="1546207"/>
            <a:ext cx="3566370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hu-HU" altLang="hu-HU" sz="2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gency FB" panose="020B0503020202020204" pitchFamily="34" charset="0"/>
              </a:rPr>
              <a:t>Mountains </a:t>
            </a:r>
            <a:r>
              <a:rPr kumimoji="0" lang="hu-HU" altLang="hu-HU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gency FB" panose="020B0503020202020204" pitchFamily="34" charset="0"/>
              </a:rPr>
              <a:t>(^) – large areas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4362BE04-0834-E792-5B13-3A185F3B8070}"/>
              </a:ext>
            </a:extLst>
          </p:cNvPr>
          <p:cNvSpPr txBox="1"/>
          <p:nvPr/>
        </p:nvSpPr>
        <p:spPr>
          <a:xfrm>
            <a:off x="4623475" y="2332823"/>
            <a:ext cx="2945054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hu-HU" altLang="hu-HU" sz="2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gency FB" panose="020B0503020202020204" pitchFamily="34" charset="0"/>
              </a:rPr>
              <a:t>Pits </a:t>
            </a:r>
            <a:r>
              <a:rPr kumimoji="0" lang="hu-HU" altLang="hu-HU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gency FB" panose="020B0503020202020204" pitchFamily="34" charset="0"/>
              </a:rPr>
              <a:t>(#) – large areas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06D2EB1A-6739-EC28-0060-BAFA564A9A65}"/>
              </a:ext>
            </a:extLst>
          </p:cNvPr>
          <p:cNvSpPr txBox="1"/>
          <p:nvPr/>
        </p:nvSpPr>
        <p:spPr>
          <a:xfrm>
            <a:off x="4823793" y="643467"/>
            <a:ext cx="2544418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hu-HU" altLang="hu-HU" sz="2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gency FB" panose="020B0503020202020204" pitchFamily="34" charset="0"/>
              </a:rPr>
              <a:t>Terrain Elements:</a:t>
            </a:r>
            <a:endParaRPr kumimoji="0" lang="hu-HU" altLang="hu-HU" sz="2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gency FB" panose="020B0503020202020204" pitchFamily="34" charset="0"/>
            </a:endParaRP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EC7FC7BA-D113-D965-C220-98501214E86B}"/>
              </a:ext>
            </a:extLst>
          </p:cNvPr>
          <p:cNvSpPr txBox="1"/>
          <p:nvPr/>
        </p:nvSpPr>
        <p:spPr>
          <a:xfrm>
            <a:off x="5062330" y="3346115"/>
            <a:ext cx="2067339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hu-HU" altLang="hu-HU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Resources:</a:t>
            </a:r>
            <a:endParaRPr kumimoji="0" lang="hu-HU" altLang="hu-HU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065EF545-9B3D-3B33-2247-10E12F80D29B}"/>
              </a:ext>
            </a:extLst>
          </p:cNvPr>
          <p:cNvSpPr txBox="1"/>
          <p:nvPr/>
        </p:nvSpPr>
        <p:spPr>
          <a:xfrm>
            <a:off x="4312813" y="4017020"/>
            <a:ext cx="3532474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hu-HU" altLang="hu-HU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Minerals </a:t>
            </a:r>
            <a:r>
              <a:rPr kumimoji="0" lang="hu-HU" altLang="hu-HU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(</a:t>
            </a:r>
            <a:r>
              <a:rPr kumimoji="0" lang="hu-HU" altLang="hu-HU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*</a:t>
            </a:r>
            <a:r>
              <a:rPr kumimoji="0" lang="hu-HU" altLang="hu-HU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) – near mountains</a:t>
            </a:r>
            <a:endParaRPr kumimoji="0" lang="hu-HU" altLang="hu-HU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6C903BC5-B649-218F-D3E6-8AB1A894FF9D}"/>
              </a:ext>
            </a:extLst>
          </p:cNvPr>
          <p:cNvSpPr txBox="1"/>
          <p:nvPr/>
        </p:nvSpPr>
        <p:spPr>
          <a:xfrm>
            <a:off x="4119983" y="4795323"/>
            <a:ext cx="375920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hu-HU" altLang="hu-HU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Water pockets </a:t>
            </a:r>
            <a:r>
              <a:rPr kumimoji="0" lang="hu-HU" altLang="hu-HU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(</a:t>
            </a:r>
            <a:r>
              <a:rPr kumimoji="0" lang="hu-HU" altLang="hu-HU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~</a:t>
            </a:r>
            <a:r>
              <a:rPr kumimoji="0" lang="hu-HU" altLang="hu-HU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) – near pits</a:t>
            </a:r>
            <a:endParaRPr kumimoji="0" lang="hu-HU" altLang="hu-HU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cxnSp>
        <p:nvCxnSpPr>
          <p:cNvPr id="32" name="Straight Arrow Connector 31">
            <a:extLst>
              <a:ext uri="{FF2B5EF4-FFF2-40B4-BE49-F238E27FC236}">
                <a16:creationId xmlns:a16="http://schemas.microsoft.com/office/drawing/2014/main" id="{21EEFABB-6AFD-5949-9093-5F600A1B346D}"/>
              </a:ext>
            </a:extLst>
          </p:cNvPr>
          <p:cNvCxnSpPr>
            <a:cxnSpLocks/>
            <a:stCxn id="13" idx="1"/>
          </p:cNvCxnSpPr>
          <p:nvPr/>
        </p:nvCxnSpPr>
        <p:spPr>
          <a:xfrm flipH="1">
            <a:off x="2603500" y="1807817"/>
            <a:ext cx="1709317" cy="427383"/>
          </a:xfrm>
          <a:prstGeom prst="straightConnector1">
            <a:avLst/>
          </a:prstGeom>
          <a:ln w="38100">
            <a:solidFill>
              <a:schemeClr val="accent2"/>
            </a:solidFill>
            <a:tailEnd type="triangle"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cxnSp>
        <p:nvCxnSpPr>
          <p:cNvPr id="34" name="Straight Arrow Connector 33">
            <a:extLst>
              <a:ext uri="{FF2B5EF4-FFF2-40B4-BE49-F238E27FC236}">
                <a16:creationId xmlns:a16="http://schemas.microsoft.com/office/drawing/2014/main" id="{304F3FE4-4A30-2D17-D932-0B5713EA1039}"/>
              </a:ext>
            </a:extLst>
          </p:cNvPr>
          <p:cNvCxnSpPr>
            <a:cxnSpLocks/>
            <a:stCxn id="13" idx="1"/>
          </p:cNvCxnSpPr>
          <p:nvPr/>
        </p:nvCxnSpPr>
        <p:spPr>
          <a:xfrm flipH="1" flipV="1">
            <a:off x="1949450" y="1397000"/>
            <a:ext cx="2363367" cy="410817"/>
          </a:xfrm>
          <a:prstGeom prst="straightConnector1">
            <a:avLst/>
          </a:prstGeom>
          <a:ln w="38100">
            <a:solidFill>
              <a:schemeClr val="accent2"/>
            </a:solidFill>
            <a:tailEnd type="triangle"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cxnSp>
        <p:nvCxnSpPr>
          <p:cNvPr id="37" name="Straight Arrow Connector 36">
            <a:extLst>
              <a:ext uri="{FF2B5EF4-FFF2-40B4-BE49-F238E27FC236}">
                <a16:creationId xmlns:a16="http://schemas.microsoft.com/office/drawing/2014/main" id="{DE584405-C82E-556F-817D-0A099C202EFE}"/>
              </a:ext>
            </a:extLst>
          </p:cNvPr>
          <p:cNvCxnSpPr>
            <a:cxnSpLocks/>
            <a:stCxn id="13" idx="3"/>
          </p:cNvCxnSpPr>
          <p:nvPr/>
        </p:nvCxnSpPr>
        <p:spPr>
          <a:xfrm>
            <a:off x="7879187" y="1807817"/>
            <a:ext cx="1372763" cy="973483"/>
          </a:xfrm>
          <a:prstGeom prst="straightConnector1">
            <a:avLst/>
          </a:prstGeom>
          <a:ln w="38100">
            <a:solidFill>
              <a:schemeClr val="accent2"/>
            </a:solidFill>
            <a:tailEnd type="triangle"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cxnSp>
        <p:nvCxnSpPr>
          <p:cNvPr id="40" name="Straight Arrow Connector 39">
            <a:extLst>
              <a:ext uri="{FF2B5EF4-FFF2-40B4-BE49-F238E27FC236}">
                <a16:creationId xmlns:a16="http://schemas.microsoft.com/office/drawing/2014/main" id="{192E2FC6-4613-B0E0-14CA-307ED231122C}"/>
              </a:ext>
            </a:extLst>
          </p:cNvPr>
          <p:cNvCxnSpPr>
            <a:cxnSpLocks/>
            <a:stCxn id="13" idx="3"/>
          </p:cNvCxnSpPr>
          <p:nvPr/>
        </p:nvCxnSpPr>
        <p:spPr>
          <a:xfrm flipV="1">
            <a:off x="7879187" y="1441450"/>
            <a:ext cx="2718963" cy="366367"/>
          </a:xfrm>
          <a:prstGeom prst="straightConnector1">
            <a:avLst/>
          </a:prstGeom>
          <a:ln w="38100">
            <a:solidFill>
              <a:schemeClr val="accent2"/>
            </a:solidFill>
            <a:tailEnd type="triangle"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cxnSp>
        <p:nvCxnSpPr>
          <p:cNvPr id="43" name="Straight Arrow Connector 42">
            <a:extLst>
              <a:ext uri="{FF2B5EF4-FFF2-40B4-BE49-F238E27FC236}">
                <a16:creationId xmlns:a16="http://schemas.microsoft.com/office/drawing/2014/main" id="{77ADAFDB-4B32-C1C9-2427-E7998FDE809F}"/>
              </a:ext>
            </a:extLst>
          </p:cNvPr>
          <p:cNvCxnSpPr>
            <a:cxnSpLocks/>
            <a:stCxn id="17" idx="1"/>
          </p:cNvCxnSpPr>
          <p:nvPr/>
        </p:nvCxnSpPr>
        <p:spPr>
          <a:xfrm flipH="1">
            <a:off x="2165350" y="2594433"/>
            <a:ext cx="2458125" cy="1641864"/>
          </a:xfrm>
          <a:prstGeom prst="straightConnector1">
            <a:avLst/>
          </a:prstGeom>
          <a:ln w="38100">
            <a:solidFill>
              <a:schemeClr val="bg2">
                <a:lumMod val="75000"/>
              </a:schemeClr>
            </a:solidFill>
            <a:tailEnd type="triangle"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cxnSp>
        <p:nvCxnSpPr>
          <p:cNvPr id="46" name="Straight Arrow Connector 45">
            <a:extLst>
              <a:ext uri="{FF2B5EF4-FFF2-40B4-BE49-F238E27FC236}">
                <a16:creationId xmlns:a16="http://schemas.microsoft.com/office/drawing/2014/main" id="{759E2EBF-4A52-37DB-155E-1BA8191EE5ED}"/>
              </a:ext>
            </a:extLst>
          </p:cNvPr>
          <p:cNvCxnSpPr>
            <a:cxnSpLocks/>
            <a:stCxn id="17" idx="3"/>
          </p:cNvCxnSpPr>
          <p:nvPr/>
        </p:nvCxnSpPr>
        <p:spPr>
          <a:xfrm>
            <a:off x="7568529" y="2594433"/>
            <a:ext cx="1670139" cy="1297691"/>
          </a:xfrm>
          <a:prstGeom prst="straightConnector1">
            <a:avLst/>
          </a:prstGeom>
          <a:ln w="38100">
            <a:solidFill>
              <a:schemeClr val="bg2">
                <a:lumMod val="75000"/>
              </a:schemeClr>
            </a:solidFill>
            <a:tailEnd type="triangle"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cxnSp>
        <p:nvCxnSpPr>
          <p:cNvPr id="49" name="Straight Arrow Connector 48">
            <a:extLst>
              <a:ext uri="{FF2B5EF4-FFF2-40B4-BE49-F238E27FC236}">
                <a16:creationId xmlns:a16="http://schemas.microsoft.com/office/drawing/2014/main" id="{7C44EF34-27BE-E4AE-81CD-7BE04226F695}"/>
              </a:ext>
            </a:extLst>
          </p:cNvPr>
          <p:cNvCxnSpPr>
            <a:cxnSpLocks/>
            <a:stCxn id="28" idx="1"/>
          </p:cNvCxnSpPr>
          <p:nvPr/>
        </p:nvCxnSpPr>
        <p:spPr>
          <a:xfrm flipH="1">
            <a:off x="1489897" y="4217075"/>
            <a:ext cx="2822916" cy="772546"/>
          </a:xfrm>
          <a:prstGeom prst="straightConnector1">
            <a:avLst/>
          </a:prstGeom>
          <a:ln w="38100">
            <a:solidFill>
              <a:srgbClr val="FFC000"/>
            </a:solidFill>
            <a:tailEnd type="triangle"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cxnSp>
        <p:nvCxnSpPr>
          <p:cNvPr id="54" name="Straight Arrow Connector 53">
            <a:extLst>
              <a:ext uri="{FF2B5EF4-FFF2-40B4-BE49-F238E27FC236}">
                <a16:creationId xmlns:a16="http://schemas.microsoft.com/office/drawing/2014/main" id="{6479CE33-8F5D-A9A5-F005-4B9BAEC3BC67}"/>
              </a:ext>
            </a:extLst>
          </p:cNvPr>
          <p:cNvCxnSpPr>
            <a:cxnSpLocks/>
            <a:stCxn id="28" idx="3"/>
          </p:cNvCxnSpPr>
          <p:nvPr/>
        </p:nvCxnSpPr>
        <p:spPr>
          <a:xfrm>
            <a:off x="7845287" y="4217075"/>
            <a:ext cx="2673510" cy="643186"/>
          </a:xfrm>
          <a:prstGeom prst="straightConnector1">
            <a:avLst/>
          </a:prstGeom>
          <a:ln w="38100">
            <a:solidFill>
              <a:srgbClr val="FFC000"/>
            </a:solidFill>
            <a:tailEnd type="triangle"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cxnSp>
        <p:nvCxnSpPr>
          <p:cNvPr id="57" name="Straight Arrow Connector 56">
            <a:extLst>
              <a:ext uri="{FF2B5EF4-FFF2-40B4-BE49-F238E27FC236}">
                <a16:creationId xmlns:a16="http://schemas.microsoft.com/office/drawing/2014/main" id="{76980FE1-F883-5616-35F3-60EC8DA607AE}"/>
              </a:ext>
            </a:extLst>
          </p:cNvPr>
          <p:cNvCxnSpPr>
            <a:cxnSpLocks/>
            <a:stCxn id="30" idx="1"/>
          </p:cNvCxnSpPr>
          <p:nvPr/>
        </p:nvCxnSpPr>
        <p:spPr>
          <a:xfrm flipH="1">
            <a:off x="2994011" y="4995378"/>
            <a:ext cx="1125972" cy="194298"/>
          </a:xfrm>
          <a:prstGeom prst="straightConnector1">
            <a:avLst/>
          </a:prstGeom>
          <a:ln w="38100">
            <a:solidFill>
              <a:schemeClr val="tx2">
                <a:lumMod val="50000"/>
                <a:lumOff val="50000"/>
              </a:schemeClr>
            </a:solidFill>
            <a:tailEnd type="triangle"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cxnSp>
        <p:nvCxnSpPr>
          <p:cNvPr id="61" name="Straight Arrow Connector 60">
            <a:extLst>
              <a:ext uri="{FF2B5EF4-FFF2-40B4-BE49-F238E27FC236}">
                <a16:creationId xmlns:a16="http://schemas.microsoft.com/office/drawing/2014/main" id="{B681E9E3-70C5-78F6-4A21-299F0AE09EA9}"/>
              </a:ext>
            </a:extLst>
          </p:cNvPr>
          <p:cNvCxnSpPr>
            <a:cxnSpLocks/>
            <a:stCxn id="30" idx="3"/>
          </p:cNvCxnSpPr>
          <p:nvPr/>
        </p:nvCxnSpPr>
        <p:spPr>
          <a:xfrm>
            <a:off x="7879183" y="4995378"/>
            <a:ext cx="1533382" cy="0"/>
          </a:xfrm>
          <a:prstGeom prst="straightConnector1">
            <a:avLst/>
          </a:prstGeom>
          <a:ln w="38100">
            <a:solidFill>
              <a:schemeClr val="tx2">
                <a:lumMod val="50000"/>
                <a:lumOff val="50000"/>
              </a:schemeClr>
            </a:solidFill>
            <a:tailEnd type="triangle"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sp>
        <p:nvSpPr>
          <p:cNvPr id="69" name="TextBox 68">
            <a:extLst>
              <a:ext uri="{FF2B5EF4-FFF2-40B4-BE49-F238E27FC236}">
                <a16:creationId xmlns:a16="http://schemas.microsoft.com/office/drawing/2014/main" id="{2AA60EFA-B98A-A72E-45F0-3534E10BCF94}"/>
              </a:ext>
            </a:extLst>
          </p:cNvPr>
          <p:cNvSpPr txBox="1"/>
          <p:nvPr/>
        </p:nvSpPr>
        <p:spPr>
          <a:xfrm>
            <a:off x="3991740" y="5567869"/>
            <a:ext cx="401568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hu-HU" sz="1600" dirty="0">
                <a:latin typeface="Agency FB" panose="020B0503020202020204" pitchFamily="34" charset="0"/>
              </a:rPr>
              <a:t>(Keep in mind these symbols can be changed freely)</a:t>
            </a:r>
          </a:p>
        </p:txBody>
      </p:sp>
    </p:spTree>
    <p:extLst>
      <p:ext uri="{BB962C8B-B14F-4D97-AF65-F5344CB8AC3E}">
        <p14:creationId xmlns:p14="http://schemas.microsoft.com/office/powerpoint/2010/main" val="278814650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3400">
        <p14:reveal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47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10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47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10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5" dur="10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6" dur="10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5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5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5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8" dur="500"/>
                                        <p:tgtEl>
                                          <p:spTgt spid="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9" fill="hold">
                      <p:stCondLst>
                        <p:cond delay="indefinite"/>
                      </p:stCondLst>
                      <p:childTnLst>
                        <p:par>
                          <p:cTn id="80" fill="hold">
                            <p:stCondLst>
                              <p:cond delay="0"/>
                            </p:stCondLst>
                            <p:childTnLst>
                              <p:par>
                                <p:cTn id="81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3" dur="1000"/>
                                        <p:tgtEl>
                                          <p:spTgt spid="6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4" dur="1000" fill="hold"/>
                                        <p:tgtEl>
                                          <p:spTgt spid="6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5" dur="1000" fill="hold"/>
                                        <p:tgtEl>
                                          <p:spTgt spid="6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/>
      <p:bldP spid="17" grpId="0"/>
      <p:bldP spid="22" grpId="0"/>
      <p:bldP spid="26" grpId="0"/>
      <p:bldP spid="28" grpId="0"/>
      <p:bldP spid="30" grpId="0"/>
      <p:bldP spid="69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100000">
              <a:schemeClr val="accent2">
                <a:lumMod val="40000"/>
                <a:lumOff val="60000"/>
              </a:schemeClr>
            </a:gs>
            <a:gs pos="51000">
              <a:schemeClr val="accent2">
                <a:lumMod val="60000"/>
                <a:lumOff val="40000"/>
              </a:schemeClr>
            </a:gs>
            <a:gs pos="0">
              <a:schemeClr val="accent2">
                <a:lumMod val="50000"/>
              </a:schemeClr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F9A024A9-2755-3440-1666-4476601DA5BE}"/>
              </a:ext>
            </a:extLst>
          </p:cNvPr>
          <p:cNvPicPr>
            <a:picLocks noChangeAspect="1"/>
          </p:cNvPicPr>
          <p:nvPr/>
        </p:nvPicPr>
        <p:blipFill>
          <a:blip r:embed="rId2">
            <a:duotone>
              <a:prstClr val="black"/>
              <a:schemeClr val="accent2">
                <a:lumMod val="40000"/>
                <a:lumOff val="60000"/>
                <a:tint val="45000"/>
                <a:satMod val="400000"/>
              </a:schemeClr>
            </a:duotone>
          </a:blip>
          <a:stretch>
            <a:fillRect/>
          </a:stretch>
        </p:blipFill>
        <p:spPr>
          <a:xfrm>
            <a:off x="2480131" y="1390216"/>
            <a:ext cx="7231738" cy="4077568"/>
          </a:xfrm>
          <a:prstGeom prst="rect">
            <a:avLst/>
          </a:prstGeom>
        </p:spPr>
      </p:pic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2BAAEF12-AFFF-BDCA-A3FB-36CCBC18EEC9}"/>
              </a:ext>
            </a:extLst>
          </p:cNvPr>
          <p:cNvCxnSpPr>
            <a:cxnSpLocks/>
            <a:stCxn id="14" idx="2"/>
          </p:cNvCxnSpPr>
          <p:nvPr/>
        </p:nvCxnSpPr>
        <p:spPr>
          <a:xfrm>
            <a:off x="3277133" y="1089298"/>
            <a:ext cx="0" cy="358467"/>
          </a:xfrm>
          <a:prstGeom prst="straightConnector1">
            <a:avLst/>
          </a:prstGeom>
          <a:ln w="38100">
            <a:solidFill>
              <a:schemeClr val="accent2"/>
            </a:solidFill>
            <a:tailEnd type="triangle"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sp>
        <p:nvSpPr>
          <p:cNvPr id="14" name="TextBox 13">
            <a:extLst>
              <a:ext uri="{FF2B5EF4-FFF2-40B4-BE49-F238E27FC236}">
                <a16:creationId xmlns:a16="http://schemas.microsoft.com/office/drawing/2014/main" id="{55274C07-646F-FB02-7B8A-CC26DF7B9A5A}"/>
              </a:ext>
            </a:extLst>
          </p:cNvPr>
          <p:cNvSpPr txBox="1"/>
          <p:nvPr/>
        </p:nvSpPr>
        <p:spPr>
          <a:xfrm>
            <a:off x="950644" y="258301"/>
            <a:ext cx="4652978" cy="830997"/>
          </a:xfrm>
          <a:prstGeom prst="rect">
            <a:avLst/>
          </a:prstGeom>
          <a:solidFill>
            <a:srgbClr val="532209">
              <a:alpha val="64000"/>
            </a:srgbClr>
          </a:solidFill>
          <a:ln>
            <a:noFill/>
          </a:ln>
          <a:effectLst/>
        </p:spPr>
        <p:txBody>
          <a:bodyPr wrap="square">
            <a:spAutoFit/>
          </a:bodyPr>
          <a:lstStyle/>
          <a:p>
            <a:pPr lvl="0" algn="ctr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hu-HU" altLang="hu-HU" sz="2400" dirty="0">
                <a:solidFill>
                  <a:schemeClr val="bg1"/>
                </a:solidFill>
                <a:latin typeface="Agency FB" panose="020B0503020202020204" pitchFamily="34" charset="0"/>
              </a:rPr>
              <a:t>The </a:t>
            </a:r>
            <a:r>
              <a:rPr lang="hu-HU" altLang="hu-HU" sz="2400" b="1" dirty="0">
                <a:solidFill>
                  <a:schemeClr val="bg1"/>
                </a:solidFill>
                <a:latin typeface="Agency FB" panose="020B0503020202020204" pitchFamily="34" charset="0"/>
              </a:rPr>
              <a:t>Program</a:t>
            </a:r>
            <a:r>
              <a:rPr lang="hu-HU" altLang="hu-HU" sz="2400" dirty="0">
                <a:solidFill>
                  <a:schemeClr val="bg1"/>
                </a:solidFill>
                <a:latin typeface="Agency FB" panose="020B0503020202020204" pitchFamily="34" charset="0"/>
              </a:rPr>
              <a:t> creates a MapConfiguration with terrain and resource settings. 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38E20209-064D-1D6F-A89B-A5EDB9DCF75B}"/>
              </a:ext>
            </a:extLst>
          </p:cNvPr>
          <p:cNvSpPr txBox="1"/>
          <p:nvPr/>
        </p:nvSpPr>
        <p:spPr>
          <a:xfrm>
            <a:off x="3277133" y="2174835"/>
            <a:ext cx="1751890" cy="400110"/>
          </a:xfrm>
          <a:prstGeom prst="rect">
            <a:avLst/>
          </a:prstGeom>
          <a:solidFill>
            <a:srgbClr val="532209">
              <a:alpha val="64000"/>
            </a:srgbClr>
          </a:solidFill>
          <a:ln>
            <a:noFill/>
          </a:ln>
          <a:effectLst/>
        </p:spPr>
        <p:txBody>
          <a:bodyPr wrap="square">
            <a:spAutoFit/>
          </a:bodyPr>
          <a:lstStyle/>
          <a:p>
            <a:pPr algn="ctr"/>
            <a:r>
              <a:rPr lang="en-US" sz="1000" dirty="0">
                <a:solidFill>
                  <a:schemeClr val="bg1"/>
                </a:solidFill>
                <a:latin typeface="Agency FB" panose="020B0503020202020204" pitchFamily="34" charset="0"/>
              </a:rPr>
              <a:t>It sends this config to the </a:t>
            </a:r>
            <a:r>
              <a:rPr lang="en-US" sz="1000" b="1" dirty="0" err="1">
                <a:solidFill>
                  <a:schemeClr val="bg1"/>
                </a:solidFill>
                <a:latin typeface="Agency FB" panose="020B0503020202020204" pitchFamily="34" charset="0"/>
              </a:rPr>
              <a:t>MapGenerator</a:t>
            </a:r>
            <a:r>
              <a:rPr lang="en-US" sz="1000" dirty="0">
                <a:solidFill>
                  <a:schemeClr val="bg1"/>
                </a:solidFill>
                <a:latin typeface="Agency FB" panose="020B0503020202020204" pitchFamily="34" charset="0"/>
              </a:rPr>
              <a:t>.</a:t>
            </a:r>
            <a:endParaRPr lang="hu-HU" sz="1000" dirty="0">
              <a:solidFill>
                <a:schemeClr val="bg1"/>
              </a:solidFill>
              <a:latin typeface="Agency FB" panose="020B0503020202020204" pitchFamily="34" charset="0"/>
            </a:endParaRPr>
          </a:p>
        </p:txBody>
      </p: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5031C683-EAE5-BD39-9AA3-C76EED3DCE70}"/>
              </a:ext>
            </a:extLst>
          </p:cNvPr>
          <p:cNvCxnSpPr>
            <a:cxnSpLocks/>
          </p:cNvCxnSpPr>
          <p:nvPr/>
        </p:nvCxnSpPr>
        <p:spPr>
          <a:xfrm flipH="1">
            <a:off x="8914868" y="1210982"/>
            <a:ext cx="305865" cy="911961"/>
          </a:xfrm>
          <a:prstGeom prst="straightConnector1">
            <a:avLst/>
          </a:prstGeom>
          <a:ln w="38100">
            <a:solidFill>
              <a:schemeClr val="accent2"/>
            </a:solidFill>
            <a:tailEnd type="triangle"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cxnSp>
        <p:nvCxnSpPr>
          <p:cNvPr id="27" name="Straight Arrow Connector 26">
            <a:extLst>
              <a:ext uri="{FF2B5EF4-FFF2-40B4-BE49-F238E27FC236}">
                <a16:creationId xmlns:a16="http://schemas.microsoft.com/office/drawing/2014/main" id="{E8B5FB70-79FF-1BF0-A352-56DC1F22A784}"/>
              </a:ext>
            </a:extLst>
          </p:cNvPr>
          <p:cNvCxnSpPr>
            <a:cxnSpLocks/>
            <a:stCxn id="26" idx="1"/>
          </p:cNvCxnSpPr>
          <p:nvPr/>
        </p:nvCxnSpPr>
        <p:spPr>
          <a:xfrm flipH="1">
            <a:off x="8140078" y="3415926"/>
            <a:ext cx="624503" cy="363168"/>
          </a:xfrm>
          <a:prstGeom prst="straightConnector1">
            <a:avLst/>
          </a:prstGeom>
          <a:ln w="38100">
            <a:solidFill>
              <a:schemeClr val="accent2"/>
            </a:solidFill>
            <a:tailEnd type="triangle"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cxnSp>
        <p:nvCxnSpPr>
          <p:cNvPr id="37" name="Straight Arrow Connector 36">
            <a:extLst>
              <a:ext uri="{FF2B5EF4-FFF2-40B4-BE49-F238E27FC236}">
                <a16:creationId xmlns:a16="http://schemas.microsoft.com/office/drawing/2014/main" id="{36ACD7DB-FF1F-DE7E-F6BB-FC33D9D2E15B}"/>
              </a:ext>
            </a:extLst>
          </p:cNvPr>
          <p:cNvCxnSpPr>
            <a:cxnSpLocks/>
            <a:stCxn id="36" idx="0"/>
          </p:cNvCxnSpPr>
          <p:nvPr/>
        </p:nvCxnSpPr>
        <p:spPr>
          <a:xfrm flipV="1">
            <a:off x="5719796" y="5032397"/>
            <a:ext cx="0" cy="609188"/>
          </a:xfrm>
          <a:prstGeom prst="straightConnector1">
            <a:avLst/>
          </a:prstGeom>
          <a:ln w="38100">
            <a:solidFill>
              <a:schemeClr val="accent2"/>
            </a:solidFill>
            <a:tailEnd type="triangle"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sp>
        <p:nvSpPr>
          <p:cNvPr id="36" name="TextBox 35">
            <a:extLst>
              <a:ext uri="{FF2B5EF4-FFF2-40B4-BE49-F238E27FC236}">
                <a16:creationId xmlns:a16="http://schemas.microsoft.com/office/drawing/2014/main" id="{BF62E268-8DD8-3AD8-A918-6ADA091F0C85}"/>
              </a:ext>
            </a:extLst>
          </p:cNvPr>
          <p:cNvSpPr txBox="1"/>
          <p:nvPr/>
        </p:nvSpPr>
        <p:spPr>
          <a:xfrm>
            <a:off x="4241614" y="5641585"/>
            <a:ext cx="2956364" cy="1015663"/>
          </a:xfrm>
          <a:prstGeom prst="rect">
            <a:avLst/>
          </a:prstGeom>
          <a:solidFill>
            <a:srgbClr val="532209">
              <a:alpha val="64000"/>
            </a:srgbClr>
          </a:solidFill>
          <a:ln>
            <a:noFill/>
          </a:ln>
          <a:effectLst/>
        </p:spPr>
        <p:txBody>
          <a:bodyPr wrap="square">
            <a:spAutoFit/>
          </a:bodyPr>
          <a:lstStyle/>
          <a:p>
            <a:r>
              <a:rPr lang="en-US" sz="2000" dirty="0">
                <a:solidFill>
                  <a:schemeClr val="bg1"/>
                </a:solidFill>
                <a:latin typeface="Agency FB" panose="020B0503020202020204" pitchFamily="34" charset="0"/>
              </a:rPr>
              <a:t>Once elements are created, </a:t>
            </a:r>
            <a:r>
              <a:rPr lang="en-US" sz="2000" b="1" dirty="0" err="1">
                <a:solidFill>
                  <a:schemeClr val="bg1"/>
                </a:solidFill>
                <a:latin typeface="Agency FB" panose="020B0503020202020204" pitchFamily="34" charset="0"/>
              </a:rPr>
              <a:t>CoordinateCalculator</a:t>
            </a:r>
            <a:r>
              <a:rPr lang="en-US" sz="2000" dirty="0">
                <a:solidFill>
                  <a:schemeClr val="bg1"/>
                </a:solidFill>
                <a:latin typeface="Agency FB" panose="020B0503020202020204" pitchFamily="34" charset="0"/>
              </a:rPr>
              <a:t> finds valid positions for them.</a:t>
            </a:r>
            <a:endParaRPr lang="hu-HU" sz="2000" dirty="0">
              <a:solidFill>
                <a:schemeClr val="bg1"/>
              </a:solidFill>
              <a:latin typeface="Agency FB" panose="020B0503020202020204" pitchFamily="34" charset="0"/>
            </a:endParaRP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2E38306B-17BD-0A36-A79D-25B056FA9419}"/>
              </a:ext>
            </a:extLst>
          </p:cNvPr>
          <p:cNvSpPr txBox="1"/>
          <p:nvPr/>
        </p:nvSpPr>
        <p:spPr>
          <a:xfrm>
            <a:off x="8764581" y="3092760"/>
            <a:ext cx="2956364" cy="646331"/>
          </a:xfrm>
          <a:prstGeom prst="rect">
            <a:avLst/>
          </a:prstGeom>
          <a:solidFill>
            <a:srgbClr val="532209">
              <a:alpha val="64000"/>
            </a:srgbClr>
          </a:solidFill>
          <a:ln>
            <a:noFill/>
          </a:ln>
          <a:effectLst/>
        </p:spPr>
        <p:txBody>
          <a:bodyPr wrap="square">
            <a:spAutoFit/>
          </a:bodyPr>
          <a:lstStyle/>
          <a:p>
            <a:pPr lvl="0" algn="ctr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hu-HU" altLang="hu-HU" dirty="0">
                <a:solidFill>
                  <a:schemeClr val="bg1"/>
                </a:solidFill>
                <a:latin typeface="Agency FB" panose="020B0503020202020204" pitchFamily="34" charset="0"/>
              </a:rPr>
              <a:t>It passes config to the </a:t>
            </a:r>
            <a:r>
              <a:rPr lang="hu-HU" altLang="hu-HU" b="1" dirty="0">
                <a:solidFill>
                  <a:schemeClr val="bg1"/>
                </a:solidFill>
                <a:latin typeface="Agency FB" panose="020B0503020202020204" pitchFamily="34" charset="0"/>
              </a:rPr>
              <a:t>MapElementsGenerator.</a:t>
            </a:r>
            <a:endParaRPr lang="hu-HU" altLang="hu-HU" dirty="0">
              <a:solidFill>
                <a:schemeClr val="bg1"/>
              </a:solidFill>
              <a:latin typeface="Agency FB" panose="020B0503020202020204" pitchFamily="34" charset="0"/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3B0E1E7D-D5C5-66AD-BC83-188E722BBF72}"/>
              </a:ext>
            </a:extLst>
          </p:cNvPr>
          <p:cNvSpPr txBox="1"/>
          <p:nvPr/>
        </p:nvSpPr>
        <p:spPr>
          <a:xfrm>
            <a:off x="8764581" y="503097"/>
            <a:ext cx="2956364" cy="707886"/>
          </a:xfrm>
          <a:prstGeom prst="rect">
            <a:avLst/>
          </a:prstGeom>
          <a:solidFill>
            <a:srgbClr val="532209">
              <a:alpha val="64000"/>
            </a:srgbClr>
          </a:solidFill>
          <a:ln>
            <a:noFill/>
          </a:ln>
          <a:effectLst/>
        </p:spPr>
        <p:txBody>
          <a:bodyPr wrap="square">
            <a:spAutoFit/>
          </a:bodyPr>
          <a:lstStyle/>
          <a:p>
            <a:pPr lvl="0" algn="ctr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hu-HU" altLang="hu-HU" sz="2000" dirty="0">
                <a:solidFill>
                  <a:schemeClr val="bg1"/>
                </a:solidFill>
                <a:latin typeface="Agency FB" panose="020B0503020202020204" pitchFamily="34" charset="0"/>
              </a:rPr>
              <a:t>The </a:t>
            </a:r>
            <a:r>
              <a:rPr lang="hu-HU" altLang="hu-HU" sz="2000" b="1" dirty="0">
                <a:solidFill>
                  <a:schemeClr val="bg1"/>
                </a:solidFill>
                <a:latin typeface="Agency FB" panose="020B0503020202020204" pitchFamily="34" charset="0"/>
              </a:rPr>
              <a:t>MapGenerator</a:t>
            </a:r>
            <a:r>
              <a:rPr lang="hu-HU" altLang="hu-HU" sz="2000" dirty="0">
                <a:solidFill>
                  <a:schemeClr val="bg1"/>
                </a:solidFill>
                <a:latin typeface="Agency FB" panose="020B0503020202020204" pitchFamily="34" charset="0"/>
              </a:rPr>
              <a:t> validates it using MapConfigurationValidator. </a:t>
            </a:r>
          </a:p>
        </p:txBody>
      </p:sp>
      <p:cxnSp>
        <p:nvCxnSpPr>
          <p:cNvPr id="42" name="Straight Arrow Connector 41">
            <a:extLst>
              <a:ext uri="{FF2B5EF4-FFF2-40B4-BE49-F238E27FC236}">
                <a16:creationId xmlns:a16="http://schemas.microsoft.com/office/drawing/2014/main" id="{54EFB60C-2D43-7F6A-A8CE-729B93905731}"/>
              </a:ext>
            </a:extLst>
          </p:cNvPr>
          <p:cNvCxnSpPr>
            <a:cxnSpLocks/>
            <a:stCxn id="41" idx="0"/>
          </p:cNvCxnSpPr>
          <p:nvPr/>
        </p:nvCxnSpPr>
        <p:spPr>
          <a:xfrm flipV="1">
            <a:off x="2480131" y="4866143"/>
            <a:ext cx="390957" cy="620825"/>
          </a:xfrm>
          <a:prstGeom prst="straightConnector1">
            <a:avLst/>
          </a:prstGeom>
          <a:ln w="38100">
            <a:solidFill>
              <a:schemeClr val="accent2"/>
            </a:solidFill>
            <a:tailEnd type="triangle"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sp>
        <p:nvSpPr>
          <p:cNvPr id="41" name="TextBox 40">
            <a:extLst>
              <a:ext uri="{FF2B5EF4-FFF2-40B4-BE49-F238E27FC236}">
                <a16:creationId xmlns:a16="http://schemas.microsoft.com/office/drawing/2014/main" id="{90955140-960A-3CBC-D64E-9A14DC15523E}"/>
              </a:ext>
            </a:extLst>
          </p:cNvPr>
          <p:cNvSpPr txBox="1"/>
          <p:nvPr/>
        </p:nvSpPr>
        <p:spPr>
          <a:xfrm>
            <a:off x="1001949" y="5486968"/>
            <a:ext cx="2956364" cy="707886"/>
          </a:xfrm>
          <a:prstGeom prst="rect">
            <a:avLst/>
          </a:prstGeom>
          <a:solidFill>
            <a:srgbClr val="532209">
              <a:alpha val="64000"/>
            </a:srgbClr>
          </a:solidFill>
          <a:ln>
            <a:noFill/>
          </a:ln>
          <a:effectLst/>
        </p:spPr>
        <p:txBody>
          <a:bodyPr wrap="square">
            <a:spAutoFit/>
          </a:bodyPr>
          <a:lstStyle/>
          <a:p>
            <a:pPr lvl="0" algn="ctr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hu-HU" altLang="hu-HU" sz="2000" b="1" dirty="0">
                <a:solidFill>
                  <a:schemeClr val="bg1"/>
                </a:solidFill>
                <a:latin typeface="Agency FB" panose="020B0503020202020204" pitchFamily="34" charset="0"/>
              </a:rPr>
              <a:t>MapElementPlacer</a:t>
            </a:r>
            <a:r>
              <a:rPr lang="hu-HU" altLang="hu-HU" sz="2000" dirty="0">
                <a:solidFill>
                  <a:schemeClr val="bg1"/>
                </a:solidFill>
                <a:latin typeface="Agency FB" panose="020B0503020202020204" pitchFamily="34" charset="0"/>
              </a:rPr>
              <a:t> places them on the map.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409634CD-E9F6-4D47-D00F-6FB0876DCD3B}"/>
              </a:ext>
            </a:extLst>
          </p:cNvPr>
          <p:cNvSpPr txBox="1"/>
          <p:nvPr/>
        </p:nvSpPr>
        <p:spPr>
          <a:xfrm>
            <a:off x="174840" y="2921168"/>
            <a:ext cx="2066083" cy="1015663"/>
          </a:xfrm>
          <a:prstGeom prst="rect">
            <a:avLst/>
          </a:prstGeom>
          <a:solidFill>
            <a:srgbClr val="532209">
              <a:alpha val="64000"/>
            </a:srgbClr>
          </a:solidFill>
          <a:ln>
            <a:noFill/>
          </a:ln>
          <a:effectLst/>
        </p:spPr>
        <p:txBody>
          <a:bodyPr wrap="square">
            <a:spAutoFit/>
          </a:bodyPr>
          <a:lstStyle/>
          <a:p>
            <a:pPr algn="ctr"/>
            <a:r>
              <a:rPr lang="en-US" sz="2000" dirty="0">
                <a:solidFill>
                  <a:schemeClr val="bg1"/>
                </a:solidFill>
                <a:latin typeface="Agency FB" panose="020B0503020202020204" pitchFamily="34" charset="0"/>
              </a:rPr>
              <a:t>Finally, </a:t>
            </a:r>
            <a:r>
              <a:rPr lang="en-US" sz="2000" b="1" dirty="0" err="1">
                <a:solidFill>
                  <a:schemeClr val="bg1"/>
                </a:solidFill>
                <a:latin typeface="Agency FB" panose="020B0503020202020204" pitchFamily="34" charset="0"/>
              </a:rPr>
              <a:t>MapFileWriter</a:t>
            </a:r>
            <a:r>
              <a:rPr lang="en-US" sz="2000" dirty="0">
                <a:solidFill>
                  <a:schemeClr val="bg1"/>
                </a:solidFill>
                <a:latin typeface="Agency FB" panose="020B0503020202020204" pitchFamily="34" charset="0"/>
              </a:rPr>
              <a:t> saves the finished map to a file.</a:t>
            </a:r>
            <a:endParaRPr lang="hu-HU" sz="2000" dirty="0">
              <a:solidFill>
                <a:schemeClr val="bg1"/>
              </a:solidFill>
              <a:latin typeface="Agency FB" panose="020B0503020202020204" pitchFamily="34" charset="0"/>
            </a:endParaRPr>
          </a:p>
        </p:txBody>
      </p:sp>
      <p:cxnSp>
        <p:nvCxnSpPr>
          <p:cNvPr id="49" name="Straight Arrow Connector 48">
            <a:extLst>
              <a:ext uri="{FF2B5EF4-FFF2-40B4-BE49-F238E27FC236}">
                <a16:creationId xmlns:a16="http://schemas.microsoft.com/office/drawing/2014/main" id="{904BBF45-46E2-8265-C500-D5B77D2CC5DC}"/>
              </a:ext>
            </a:extLst>
          </p:cNvPr>
          <p:cNvCxnSpPr>
            <a:cxnSpLocks/>
            <a:stCxn id="48" idx="3"/>
            <a:endCxn id="5" idx="1"/>
          </p:cNvCxnSpPr>
          <p:nvPr/>
        </p:nvCxnSpPr>
        <p:spPr>
          <a:xfrm>
            <a:off x="2240923" y="3429000"/>
            <a:ext cx="239208" cy="0"/>
          </a:xfrm>
          <a:prstGeom prst="straightConnector1">
            <a:avLst/>
          </a:prstGeom>
          <a:ln w="38100">
            <a:solidFill>
              <a:schemeClr val="accent2"/>
            </a:solidFill>
            <a:tailEnd type="triangle"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sp>
        <p:nvSpPr>
          <p:cNvPr id="55" name="TextBox 54">
            <a:extLst>
              <a:ext uri="{FF2B5EF4-FFF2-40B4-BE49-F238E27FC236}">
                <a16:creationId xmlns:a16="http://schemas.microsoft.com/office/drawing/2014/main" id="{6FE33767-820F-5655-5F83-E9396A5E8388}"/>
              </a:ext>
            </a:extLst>
          </p:cNvPr>
          <p:cNvSpPr txBox="1"/>
          <p:nvPr/>
        </p:nvSpPr>
        <p:spPr>
          <a:xfrm>
            <a:off x="8281288" y="5764801"/>
            <a:ext cx="2956364" cy="923330"/>
          </a:xfrm>
          <a:prstGeom prst="rect">
            <a:avLst/>
          </a:prstGeom>
          <a:solidFill>
            <a:srgbClr val="532209">
              <a:alpha val="64000"/>
            </a:srgbClr>
          </a:solidFill>
          <a:ln>
            <a:noFill/>
          </a:ln>
          <a:effectLst/>
        </p:spPr>
        <p:txBody>
          <a:bodyPr wrap="square">
            <a:spAutoFit/>
          </a:bodyPr>
          <a:lstStyle/>
          <a:p>
            <a:pPr lvl="0" algn="ctr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hu-HU" altLang="hu-HU" dirty="0">
                <a:solidFill>
                  <a:schemeClr val="bg1"/>
                </a:solidFill>
                <a:latin typeface="Agency FB" panose="020B0503020202020204" pitchFamily="34" charset="0"/>
              </a:rPr>
              <a:t>Which uses </a:t>
            </a:r>
            <a:r>
              <a:rPr lang="hu-HU" altLang="hu-HU" b="1" dirty="0">
                <a:solidFill>
                  <a:schemeClr val="bg1"/>
                </a:solidFill>
                <a:latin typeface="Agency FB" panose="020B0503020202020204" pitchFamily="34" charset="0"/>
              </a:rPr>
              <a:t>MapElementBuilder</a:t>
            </a:r>
            <a:r>
              <a:rPr lang="hu-HU" altLang="hu-HU" dirty="0">
                <a:solidFill>
                  <a:schemeClr val="bg1"/>
                </a:solidFill>
                <a:latin typeface="Agency FB" panose="020B0503020202020204" pitchFamily="34" charset="0"/>
              </a:rPr>
              <a:t> to create terrain and resource elements.</a:t>
            </a:r>
          </a:p>
        </p:txBody>
      </p:sp>
      <p:cxnSp>
        <p:nvCxnSpPr>
          <p:cNvPr id="56" name="Straight Arrow Connector 55">
            <a:extLst>
              <a:ext uri="{FF2B5EF4-FFF2-40B4-BE49-F238E27FC236}">
                <a16:creationId xmlns:a16="http://schemas.microsoft.com/office/drawing/2014/main" id="{C345E0E3-54AA-CB34-32E9-64C0A180AB1F}"/>
              </a:ext>
            </a:extLst>
          </p:cNvPr>
          <p:cNvCxnSpPr>
            <a:cxnSpLocks/>
          </p:cNvCxnSpPr>
          <p:nvPr/>
        </p:nvCxnSpPr>
        <p:spPr>
          <a:xfrm flipV="1">
            <a:off x="8914868" y="5486968"/>
            <a:ext cx="0" cy="277833"/>
          </a:xfrm>
          <a:prstGeom prst="straightConnector1">
            <a:avLst/>
          </a:prstGeom>
          <a:ln w="38100">
            <a:solidFill>
              <a:schemeClr val="accent2"/>
            </a:solidFill>
            <a:tailEnd type="triangle"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910139690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7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7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47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7" presetID="47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10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8" presetID="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0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1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10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7" dur="1000" fill="hold"/>
                                        <p:tgtEl>
                                          <p:spTgt spid="5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8" dur="1000" fill="hold"/>
                                        <p:tgtEl>
                                          <p:spTgt spid="5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9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10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2" dur="1000" fill="hold"/>
                                        <p:tgtEl>
                                          <p:spTgt spid="5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3" dur="1000" fill="hold"/>
                                        <p:tgtEl>
                                          <p:spTgt spid="5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>
                      <p:stCondLst>
                        <p:cond delay="indefinite"/>
                      </p:stCondLst>
                      <p:childTnLst>
                        <p:par>
                          <p:cTn id="55" fill="hold">
                            <p:stCondLst>
                              <p:cond delay="0"/>
                            </p:stCondLst>
                            <p:childTnLst>
                              <p:par>
                                <p:cTn id="56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10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9" dur="10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0" dur="10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1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3" dur="10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4" dur="10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5" dur="10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6" fill="hold">
                      <p:stCondLst>
                        <p:cond delay="indefinite"/>
                      </p:stCondLst>
                      <p:childTnLst>
                        <p:par>
                          <p:cTn id="67" fill="hold">
                            <p:stCondLst>
                              <p:cond delay="0"/>
                            </p:stCondLst>
                            <p:childTnLst>
                              <p:par>
                                <p:cTn id="68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0" dur="10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1" dur="10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2" dur="10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3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5" dur="10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6" dur="10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7" dur="10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2" dur="500" fill="hold"/>
                                        <p:tgtEl>
                                          <p:spTgt spid="4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3" dur="500" fill="hold"/>
                                        <p:tgtEl>
                                          <p:spTgt spid="4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4" presetID="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6" dur="500" fill="hold"/>
                                        <p:tgtEl>
                                          <p:spTgt spid="4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7" dur="500" fill="hold"/>
                                        <p:tgtEl>
                                          <p:spTgt spid="4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6" grpId="0" animBg="1"/>
      <p:bldP spid="36" grpId="0" animBg="1"/>
      <p:bldP spid="26" grpId="0" animBg="1"/>
      <p:bldP spid="18" grpId="0" animBg="1"/>
      <p:bldP spid="41" grpId="0" animBg="1"/>
      <p:bldP spid="48" grpId="0" animBg="1"/>
      <p:bldP spid="55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98" name="Picture 2" descr="Élet rejtőzhet a Mars jege alatt - Hír TV">
            <a:extLst>
              <a:ext uri="{FF2B5EF4-FFF2-40B4-BE49-F238E27FC236}">
                <a16:creationId xmlns:a16="http://schemas.microsoft.com/office/drawing/2014/main" id="{049CF992-CB6A-1BD4-39F1-893A917F249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2192000" cy="68516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B331EA95-8179-1285-9C8C-7CA58E540AA1}"/>
              </a:ext>
            </a:extLst>
          </p:cNvPr>
          <p:cNvSpPr txBox="1"/>
          <p:nvPr/>
        </p:nvSpPr>
        <p:spPr>
          <a:xfrm>
            <a:off x="4379241" y="1243329"/>
            <a:ext cx="3433518" cy="1200329"/>
          </a:xfrm>
          <a:prstGeom prst="rect">
            <a:avLst/>
          </a:prstGeom>
          <a:noFill/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txBody>
          <a:bodyPr wrap="square" rtlCol="0">
            <a:spAutoFit/>
          </a:bodyPr>
          <a:lstStyle/>
          <a:p>
            <a:pPr algn="ctr"/>
            <a:r>
              <a:rPr lang="hu-HU" sz="3600" b="1" dirty="0">
                <a:latin typeface="Agency FB" panose="020B0503020202020204" pitchFamily="34" charset="0"/>
              </a:rPr>
              <a:t>Thank you for your attention!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F78D532-4EF9-AD8B-1D77-DC50EE33FB19}"/>
              </a:ext>
            </a:extLst>
          </p:cNvPr>
          <p:cNvSpPr txBox="1"/>
          <p:nvPr/>
        </p:nvSpPr>
        <p:spPr>
          <a:xfrm>
            <a:off x="4422363" y="4105039"/>
            <a:ext cx="3390396" cy="400110"/>
          </a:xfrm>
          <a:prstGeom prst="rect">
            <a:avLst/>
          </a:prstGeom>
          <a:solidFill>
            <a:schemeClr val="accent4">
              <a:lumMod val="60000"/>
              <a:lumOff val="40000"/>
              <a:alpha val="64000"/>
            </a:schemeClr>
          </a:solidFill>
          <a:ln>
            <a:solidFill>
              <a:schemeClr val="accent4">
                <a:lumMod val="60000"/>
                <a:lumOff val="40000"/>
              </a:schemeClr>
            </a:solidFill>
          </a:ln>
          <a:effectLst/>
        </p:spPr>
        <p:txBody>
          <a:bodyPr wrap="square">
            <a:spAutoFit/>
          </a:bodyPr>
          <a:lstStyle/>
          <a:p>
            <a:pPr algn="ctr"/>
            <a:r>
              <a:rPr lang="hu-HU" sz="2000" dirty="0">
                <a:solidFill>
                  <a:schemeClr val="bg1"/>
                </a:solidFill>
                <a:latin typeface="Agency FB" panose="020B0503020202020204" pitchFamily="34" charset="0"/>
              </a:rPr>
              <a:t>Please feel free to ask any questions!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05A4F92-2DBF-B5ED-57F9-7CD103631961}"/>
              </a:ext>
            </a:extLst>
          </p:cNvPr>
          <p:cNvSpPr txBox="1"/>
          <p:nvPr/>
        </p:nvSpPr>
        <p:spPr>
          <a:xfrm>
            <a:off x="4400802" y="5753729"/>
            <a:ext cx="3390396" cy="707886"/>
          </a:xfrm>
          <a:prstGeom prst="rect">
            <a:avLst/>
          </a:prstGeom>
          <a:solidFill>
            <a:schemeClr val="tx2">
              <a:lumMod val="90000"/>
              <a:lumOff val="10000"/>
              <a:alpha val="64000"/>
            </a:schemeClr>
          </a:solidFill>
          <a:ln>
            <a:solidFill>
              <a:schemeClr val="tx2"/>
            </a:solidFill>
          </a:ln>
          <a:effectLst/>
        </p:spPr>
        <p:txBody>
          <a:bodyPr wrap="square">
            <a:spAutoFit/>
          </a:bodyPr>
          <a:lstStyle/>
          <a:p>
            <a:pPr algn="ctr"/>
            <a:r>
              <a:rPr lang="hu-HU" sz="2000" dirty="0">
                <a:solidFill>
                  <a:schemeClr val="bg1"/>
                </a:solidFill>
                <a:latin typeface="Agency FB" panose="020B0503020202020204" pitchFamily="34" charset="0"/>
              </a:rPr>
              <a:t>If you don’t have any questions start generating your own Mars!</a:t>
            </a:r>
          </a:p>
        </p:txBody>
      </p:sp>
    </p:spTree>
    <p:extLst>
      <p:ext uri="{BB962C8B-B14F-4D97-AF65-F5344CB8AC3E}">
        <p14:creationId xmlns:p14="http://schemas.microsoft.com/office/powerpoint/2010/main" val="253783869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6" presetClass="entr" presetSubtype="37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1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6" grpId="0" animBg="1"/>
      <p:bldP spid="7" grpId="0" animBg="1"/>
    </p:bld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369</TotalTime>
  <Words>201</Words>
  <Application>Microsoft Office PowerPoint</Application>
  <PresentationFormat>Widescreen</PresentationFormat>
  <Paragraphs>32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2" baseType="lpstr">
      <vt:lpstr>Agency FB</vt:lpstr>
      <vt:lpstr>Aptos</vt:lpstr>
      <vt:lpstr>Aptos Display</vt:lpstr>
      <vt:lpstr>Arial</vt:lpstr>
      <vt:lpstr>Arial Unicode MS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HU SMONK</dc:creator>
  <cp:lastModifiedBy>HU SMONK</cp:lastModifiedBy>
  <cp:revision>5</cp:revision>
  <dcterms:created xsi:type="dcterms:W3CDTF">2025-06-26T10:40:53Z</dcterms:created>
  <dcterms:modified xsi:type="dcterms:W3CDTF">2025-06-27T07:25:09Z</dcterms:modified>
</cp:coreProperties>
</file>